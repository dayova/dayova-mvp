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Lernschritte</c:v>
                </c:pt>
              </c:strCache>
            </c:strRef>
          </c:tx>
          <c:spPr>
            <a:solidFill>
              <a:srgbClr val="00BAF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Woche 1</c:v>
                </c:pt>
                <c:pt idx="1">
                  <c:v>Woche 2</c:v>
                </c:pt>
                <c:pt idx="2">
                  <c:v>Woche 3</c:v>
                </c:pt>
                <c:pt idx="3">
                  <c:v>Woche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Titel durch maximal 7 Wörter ersetzen. Untertitel: ein Satz. Absender, Anlass und Datum ergänzen. Lernpfad: unveränderter Ausschnitt der nativen Android-Aufnahme android-light-intro-learning-path-settled.png vom 30.08.2026, LearningPathVisual, Quellcommit c576928. Erledigt blau; aktueller Schritt grau mit Auswahlring; weitere Vorschau grau. Keine frisch aufgenommene App-Ansicht. Bei Änderungen am Produkt neu exportieren, nicht nachzeichnen. Originales Dayova-Bildzeichen unverzerrt mit Wortmarke verwenden.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Hilfsfolie vor dem Präsentieren entfernen. Schrift Poppins installieren. Alle Text- und Formelemente sind bearbeitbar. PowerPoint: Folie duplizieren; Canva: Seite duplizieren. Zahlen sind fiktiv.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Agenda: maximal vier Punkte. Ersetze Inhalte, behalte kurze Titel und eindeutige Reihenfolge.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Kapiteltrenner: große Ziffer, kurze Kapitelüberschrift. Keine zusätzliche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Kernaussage mit drei Belegen. Die Beispieltexte beschreiben das Produktprinzip, keine nachgewiesenen Wirkungsversprechen.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Zwei Perspektiven oder Problem / Ansatz. Keine unbelegten absoluten Versprechen.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gleichwertige Bausteine. Kurze Überschriften, je maximal 25 Wörter Erklärung.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Prozessgrafik als bearbeitbare Formen. Kein Screenshot und keine Behauptung über eine konkrete App-Ansicht.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Referenz: Repository docs/evidence/day-292-onboarding/android-light-intro-daily-guidance-shared.png. Echter aufgezeichneter App-Zustand, nicht frisch live aufgenommen. Vor externer Nutzung auf Aktualität prüfen. Bild mit Quelle ersetzen; Seitenverhältnis beibehalten.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graue Fläche ist ein Bildplatzhalter. In PowerPoint/Canva eigenes freigegebenes Bild einfügen, proportional beschneiden. Alternativtext und Quelle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Fiktive Beispiele. KPI immer mit Definition, Zeitraum und Quelle angeben. Keine realen Dayova Leistungsdaten.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PowerPoint: Rechtsklick auf Diagramm &gt; Daten bearbeiten. Canva: Balken und Werte sind einzelne bearbeitbare Elemente, kein verknüpftes Diagramm. Achse beginnt bei null. Werte 6, 9, 12, 15; Einheit Lernschritte.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PowerPoint-Tabelle ist nativ bearbeitbar. Canva-Zellen sind bearbeitbare Texte und Formen. Maximal fünf Zeilen pro Folie; längere Tabellen aufteilen.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Phasen mit Verantwortlichen und Termin ersetzen. Keine automatische Projektverfolgung; Linear bleibt das kanonische Issuesystem.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Platzhalter, kein echtes Testimonial. Nur freigegebene Originalzitate verwenden, mit Name/Rolle/Datum und dokumentierter Freigabe. Platzhalter komplett ersetzen.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Personen sind Platzhalter. Freigegebene Fotos ersetzen die Initialen. Keine erfundenen Namen oder Rollen.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Kriterien parallel halten. Empfohlene Option mit Begründung hervorheben. Platzhalter ersetzen; keine Preisangaben ohne aktuelle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Abschluss: eine konkrete Handlung, Person und Termin. Kontakt / Link vor Veröffentlichung prüfen. Originales Dayova-Bildzeichen unverzerrt mit Wortmarke verwenden.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Hilfsfolie vor dem Präsentieren entfernen. Primärfarbe #00BAFF mit #1A1A1A Text. Poppins Regular für Fließtext; SemiBold für Überschriften. Kleine farbige Texte vermeiden. Diese Kommunikationsskala 64/44/28/20 px ändert keine App-Tokens.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Dunkle Inhaltsvariante. Weiß auf #212325; Cyan nur als Akzent. Keine Übertragung auf die App-Themesteuerung.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ayova – originales Bildzeich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14300"/>
            <a:ext cx="762000" cy="762000"/>
          </a:xfrm>
          <a:prstGeom prst="rect">
            <a:avLst/>
          </a:prstGeom>
        </p:spPr>
      </p:pic>
      <p:sp>
        <p:nvSpPr>
          <p:cNvPr id="3" name="dayova."/>
          <p:cNvSpPr txBox="1"/>
          <p:nvPr/>
        </p:nvSpPr>
        <p:spPr>
          <a:xfrm>
            <a:off x="1162050" y="114300"/>
            <a:ext cx="1905000" cy="762000"/>
          </a:xfrm>
          <a:prstGeom prst="rect">
            <a:avLst/>
          </a:prstGeom>
          <a:noFill/>
        </p:spPr>
        <p:txBody>
          <a:bodyPr wrap="square" lIns="0" rIns="0" tIns="0" bIns="59207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4" name="TITEL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TITEL</a:t>
            </a:r>
          </a:p>
        </p:txBody>
      </p:sp>
      <p:sp>
        <p:nvSpPr>
          <p:cNvPr id="5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7" name="01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01</a:t>
            </a:r>
          </a:p>
        </p:txBody>
      </p:sp>
      <p:sp>
        <p:nvSpPr>
          <p:cNvPr id="8" name="Text"/>
          <p:cNvSpPr/>
          <p:nvPr/>
        </p:nvSpPr>
        <p:spPr>
          <a:xfrm>
            <a:off x="7772400" y="1066800"/>
            <a:ext cx="3886200" cy="4991100"/>
          </a:xfrm>
          <a:prstGeom prst="roundRect">
            <a:avLst>
              <a:gd name="adj" fmla="val 7843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yova Lernpfad: erledigter Schritt, ausgewählter nächster Schritt und adaptive Vorschau. Nativer Bildausschnitt vom 30.08.2026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099" y="1228725"/>
            <a:ext cx="3352800" cy="4577861"/>
          </a:xfrm>
          <a:prstGeom prst="rect">
            <a:avLst/>
          </a:prstGeom>
        </p:spPr>
      </p:pic>
      <p:sp>
        <p:nvSpPr>
          <p:cNvPr id="10" name="Einfach&#10;loslernen."/>
          <p:cNvSpPr txBox="1"/>
          <p:nvPr/>
        </p:nvSpPr>
        <p:spPr>
          <a:xfrm>
            <a:off x="533400" y="1724025"/>
            <a:ext cx="7000875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5700" b="0">
                <a:solidFill>
                  <a:srgbClr val="1A1A1A"/>
                </a:solidFill>
                <a:latin typeface="Poppins SemiBold"/>
              </a:defRPr>
            </a:pPr>
            <a:r>
              <a:t>Einfach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5700" b="0">
                <a:solidFill>
                  <a:srgbClr val="1A1A1A"/>
                </a:solidFill>
                <a:latin typeface="Poppins SemiBold"/>
              </a:defRPr>
            </a:pPr>
            <a:r>
              <a:t>loslernen.</a:t>
            </a:r>
          </a:p>
        </p:txBody>
      </p:sp>
      <p:sp>
        <p:nvSpPr>
          <p:cNvPr id="11" name="Der Plan steht schon."/>
          <p:cNvSpPr txBox="1"/>
          <p:nvPr/>
        </p:nvSpPr>
        <p:spPr>
          <a:xfrm>
            <a:off x="571500" y="3924300"/>
            <a:ext cx="66675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550" b="0">
                <a:solidFill>
                  <a:srgbClr val="1A1A1A"/>
                </a:solidFill>
                <a:latin typeface="Poppins SemiBold"/>
              </a:defRPr>
            </a:pPr>
            <a:r>
              <a:t>Der Plan steht schon.</a:t>
            </a:r>
          </a:p>
        </p:txBody>
      </p:sp>
      <p:sp>
        <p:nvSpPr>
          <p:cNvPr id="12" name="[Anlass / Präsentation]&#10;[Name] · [Datum]"/>
          <p:cNvSpPr txBox="1"/>
          <p:nvPr/>
        </p:nvSpPr>
        <p:spPr>
          <a:xfrm>
            <a:off x="571500" y="5114925"/>
            <a:ext cx="6286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[Anlass / Präsentation]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[Name] · [Datum]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ANLEITUNG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ANLEITUNG</a:t>
            </a:r>
          </a:p>
        </p:txBody>
      </p:sp>
      <p:sp>
        <p:nvSpPr>
          <p:cNvPr id="4" name="Eine Vorlage. Viele Möglichkeit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Eine Vorlage. Viele Möglichkeiten.</a:t>
            </a:r>
          </a:p>
        </p:txBody>
      </p:sp>
      <p:sp>
        <p:nvSpPr>
          <p:cNvPr id="5" name="Kopieren, Inhalte ersetzen, loslegen.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Kopieren, Inhalte ersetzen, loslegen.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2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02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52750"/>
            <a:ext cx="3505200" cy="2905125"/>
          </a:xfrm>
          <a:prstGeom prst="roundRect">
            <a:avLst>
              <a:gd name="adj" fmla="val 786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1"/>
          <p:cNvSpPr txBox="1"/>
          <p:nvPr/>
        </p:nvSpPr>
        <p:spPr>
          <a:xfrm>
            <a:off x="800100" y="3181350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1" name="Layout wählen"/>
          <p:cNvSpPr txBox="1"/>
          <p:nvPr/>
        </p:nvSpPr>
        <p:spPr>
          <a:xfrm>
            <a:off x="800100" y="3905249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Layout wählen</a:t>
            </a:r>
          </a:p>
        </p:txBody>
      </p:sp>
      <p:sp>
        <p:nvSpPr>
          <p:cNvPr id="12" name="Wähle die Folie passend zur Aussage. Eine Kernbotschaft pro "/>
          <p:cNvSpPr txBox="1"/>
          <p:nvPr/>
        </p:nvSpPr>
        <p:spPr>
          <a:xfrm>
            <a:off x="800100" y="4714875"/>
            <a:ext cx="297180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Wähle die Folie passend zur Aussage. Eine Kernbotschaft pro Seite.</a:t>
            </a:r>
          </a:p>
        </p:txBody>
      </p:sp>
      <p:sp>
        <p:nvSpPr>
          <p:cNvPr id="13" name="Text"/>
          <p:cNvSpPr/>
          <p:nvPr/>
        </p:nvSpPr>
        <p:spPr>
          <a:xfrm>
            <a:off x="4343400" y="2952750"/>
            <a:ext cx="3505200" cy="2905125"/>
          </a:xfrm>
          <a:prstGeom prst="roundRect">
            <a:avLst>
              <a:gd name="adj" fmla="val 786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2"/>
          <p:cNvSpPr txBox="1"/>
          <p:nvPr/>
        </p:nvSpPr>
        <p:spPr>
          <a:xfrm>
            <a:off x="4610100" y="3181350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5" name="Inhalte einsetzen"/>
          <p:cNvSpPr txBox="1"/>
          <p:nvPr/>
        </p:nvSpPr>
        <p:spPr>
          <a:xfrm>
            <a:off x="4610100" y="3905249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Inhalte einsetzen</a:t>
            </a:r>
          </a:p>
        </p:txBody>
      </p:sp>
      <p:sp>
        <p:nvSpPr>
          <p:cNvPr id="16" name="Ersetze eckige Klammern. Prüfe Quellen, Zahlen und Bildrecht"/>
          <p:cNvSpPr txBox="1"/>
          <p:nvPr/>
        </p:nvSpPr>
        <p:spPr>
          <a:xfrm>
            <a:off x="4610100" y="4714875"/>
            <a:ext cx="297180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Ersetze eckige Klammern. Prüfe Quellen, Zahlen und Bildrechte.</a:t>
            </a:r>
          </a:p>
        </p:txBody>
      </p:sp>
      <p:sp>
        <p:nvSpPr>
          <p:cNvPr id="17" name="Text"/>
          <p:cNvSpPr/>
          <p:nvPr/>
        </p:nvSpPr>
        <p:spPr>
          <a:xfrm>
            <a:off x="8153399" y="2952750"/>
            <a:ext cx="3505200" cy="2905125"/>
          </a:xfrm>
          <a:prstGeom prst="roundRect">
            <a:avLst>
              <a:gd name="adj" fmla="val 786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3"/>
          <p:cNvSpPr txBox="1"/>
          <p:nvPr/>
        </p:nvSpPr>
        <p:spPr>
          <a:xfrm>
            <a:off x="8420100" y="3181350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9" name="Kurz prüfen"/>
          <p:cNvSpPr txBox="1"/>
          <p:nvPr/>
        </p:nvSpPr>
        <p:spPr>
          <a:xfrm>
            <a:off x="8420100" y="3905249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Kurz prüfen</a:t>
            </a:r>
          </a:p>
        </p:txBody>
      </p:sp>
      <p:sp>
        <p:nvSpPr>
          <p:cNvPr id="20" name="Lies in Präsentationsgröße. Prüfe Umbrüche und exportiere ei"/>
          <p:cNvSpPr txBox="1"/>
          <p:nvPr/>
        </p:nvSpPr>
        <p:spPr>
          <a:xfrm>
            <a:off x="8420100" y="4714875"/>
            <a:ext cx="297180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Lies in Präsentationsgröße. Prüfe Umbrüche und exportiere ein PDF.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AGENDA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AGENDA</a:t>
            </a:r>
          </a:p>
        </p:txBody>
      </p:sp>
      <p:sp>
        <p:nvSpPr>
          <p:cNvPr id="4" name="Was heute zähl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Was heute zählt.</a:t>
            </a:r>
          </a:p>
        </p:txBody>
      </p:sp>
      <p:sp>
        <p:nvSpPr>
          <p:cNvPr id="5" name="[Ziel des Gesprächs in einem Satz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[Ziel des Gesprächs in einem Satz]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3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03</a:t>
            </a:r>
          </a:p>
        </p:txBody>
      </p:sp>
      <p:sp>
        <p:nvSpPr>
          <p:cNvPr id="9" name="01"/>
          <p:cNvSpPr txBox="1"/>
          <p:nvPr/>
        </p:nvSpPr>
        <p:spPr>
          <a:xfrm>
            <a:off x="571500" y="2914650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0" name="Ausgangspunkt"/>
          <p:cNvSpPr txBox="1"/>
          <p:nvPr/>
        </p:nvSpPr>
        <p:spPr>
          <a:xfrm>
            <a:off x="1619250" y="2914650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Ausgangspunkt</a:t>
            </a:r>
          </a:p>
        </p:txBody>
      </p:sp>
      <p:sp>
        <p:nvSpPr>
          <p:cNvPr id="11" name="Was wir verstehen müssen"/>
          <p:cNvSpPr txBox="1"/>
          <p:nvPr/>
        </p:nvSpPr>
        <p:spPr>
          <a:xfrm>
            <a:off x="6191250" y="2962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Was wir verstehen müssen</a:t>
            </a:r>
          </a:p>
        </p:txBody>
      </p:sp>
      <p:sp>
        <p:nvSpPr>
          <p:cNvPr id="12" name="02"/>
          <p:cNvSpPr txBox="1"/>
          <p:nvPr/>
        </p:nvSpPr>
        <p:spPr>
          <a:xfrm>
            <a:off x="571500" y="3676649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3" name="Unser Ansatz"/>
          <p:cNvSpPr txBox="1"/>
          <p:nvPr/>
        </p:nvSpPr>
        <p:spPr>
          <a:xfrm>
            <a:off x="1619250" y="3676649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Unser Ansatz</a:t>
            </a:r>
          </a:p>
        </p:txBody>
      </p:sp>
      <p:sp>
        <p:nvSpPr>
          <p:cNvPr id="14" name="Wie wir den nächsten Schritt erleichtern"/>
          <p:cNvSpPr txBox="1"/>
          <p:nvPr/>
        </p:nvSpPr>
        <p:spPr>
          <a:xfrm>
            <a:off x="6191250" y="3724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Wie wir den nächsten Schritt erleichtern</a:t>
            </a:r>
          </a:p>
        </p:txBody>
      </p:sp>
      <p:sp>
        <p:nvSpPr>
          <p:cNvPr id="15" name="03"/>
          <p:cNvSpPr txBox="1"/>
          <p:nvPr/>
        </p:nvSpPr>
        <p:spPr>
          <a:xfrm>
            <a:off x="571500" y="4438650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6" name="Einblick"/>
          <p:cNvSpPr txBox="1"/>
          <p:nvPr/>
        </p:nvSpPr>
        <p:spPr>
          <a:xfrm>
            <a:off x="1619250" y="4438650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Einblick</a:t>
            </a:r>
          </a:p>
        </p:txBody>
      </p:sp>
      <p:sp>
        <p:nvSpPr>
          <p:cNvPr id="17" name="Was wir zeigen und lernen"/>
          <p:cNvSpPr txBox="1"/>
          <p:nvPr/>
        </p:nvSpPr>
        <p:spPr>
          <a:xfrm>
            <a:off x="6191250" y="4486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Was wir zeigen und lernen</a:t>
            </a:r>
          </a:p>
        </p:txBody>
      </p:sp>
      <p:sp>
        <p:nvSpPr>
          <p:cNvPr id="18" name="04"/>
          <p:cNvSpPr txBox="1"/>
          <p:nvPr/>
        </p:nvSpPr>
        <p:spPr>
          <a:xfrm>
            <a:off x="571500" y="5200650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04</a:t>
            </a:r>
          </a:p>
        </p:txBody>
      </p:sp>
      <p:sp>
        <p:nvSpPr>
          <p:cNvPr id="19" name="Nächster Schritt"/>
          <p:cNvSpPr txBox="1"/>
          <p:nvPr/>
        </p:nvSpPr>
        <p:spPr>
          <a:xfrm>
            <a:off x="1619250" y="5200650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Nächster Schritt</a:t>
            </a:r>
          </a:p>
        </p:txBody>
      </p:sp>
      <p:sp>
        <p:nvSpPr>
          <p:cNvPr id="20" name="Was wir gemeinsam entscheiden"/>
          <p:cNvSpPr txBox="1"/>
          <p:nvPr/>
        </p:nvSpPr>
        <p:spPr>
          <a:xfrm>
            <a:off x="6191250" y="5248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Was wir gemeinsam entscheiden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3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KAPITEL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Poppins"/>
              </a:defRPr>
            </a:pPr>
            <a:r>
              <a:t>KAPITEL</a:t>
            </a:r>
          </a:p>
        </p:txBody>
      </p:sp>
      <p:sp>
        <p:nvSpPr>
          <p:cNvPr id="4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6" name="04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FFFFFF"/>
                </a:solidFill>
                <a:latin typeface="Poppins"/>
              </a:defRPr>
            </a:pPr>
            <a:r>
              <a:t>04</a:t>
            </a:r>
          </a:p>
        </p:txBody>
      </p:sp>
      <p:sp>
        <p:nvSpPr>
          <p:cNvPr id="7" name="01"/>
          <p:cNvSpPr txBox="1"/>
          <p:nvPr/>
        </p:nvSpPr>
        <p:spPr>
          <a:xfrm>
            <a:off x="533400" y="1447800"/>
            <a:ext cx="3048000" cy="1952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0" b="0">
                <a:solidFill>
                  <a:srgbClr val="00BAFF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8" name="Der nächste&#10;sinnvolle Schritt."/>
          <p:cNvSpPr txBox="1"/>
          <p:nvPr/>
        </p:nvSpPr>
        <p:spPr>
          <a:xfrm>
            <a:off x="4038600" y="2038349"/>
            <a:ext cx="7620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350" b="0">
                <a:solidFill>
                  <a:srgbClr val="FFFFFF"/>
                </a:solidFill>
                <a:latin typeface="Poppins SemiBold"/>
              </a:defRPr>
            </a:pPr>
            <a:r>
              <a:t>Der nächste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350" b="0">
                <a:solidFill>
                  <a:srgbClr val="FFFFFF"/>
                </a:solidFill>
                <a:latin typeface="Poppins SemiBold"/>
              </a:defRPr>
            </a:pPr>
            <a:r>
              <a:t>sinnvolle Schritt.</a:t>
            </a:r>
          </a:p>
        </p:txBody>
      </p:sp>
      <p:sp>
        <p:nvSpPr>
          <p:cNvPr id="9" name="[Kapitel / Leitfrage]"/>
          <p:cNvSpPr txBox="1"/>
          <p:nvPr/>
        </p:nvSpPr>
        <p:spPr>
          <a:xfrm>
            <a:off x="4095750" y="4600575"/>
            <a:ext cx="69532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FFFFFF"/>
                </a:solidFill>
                <a:latin typeface="Poppins"/>
              </a:defRPr>
            </a:pPr>
            <a:r>
              <a:t>[Kapitel / Leitfrage]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KERNAUSSAG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KERNAUSSAGE</a:t>
            </a:r>
          </a:p>
        </p:txBody>
      </p:sp>
      <p:sp>
        <p:nvSpPr>
          <p:cNvPr id="4" name="Weniger planen.&#10;Leichter anfang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Weniger planen.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Leichter anfangen.</a:t>
            </a:r>
          </a:p>
        </p:txBody>
      </p:sp>
      <p:sp>
        <p:nvSpPr>
          <p:cNvPr id="5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7" name="05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05</a:t>
            </a:r>
          </a:p>
        </p:txBody>
      </p:sp>
      <p:sp>
        <p:nvSpPr>
          <p:cNvPr id="8" name="Text"/>
          <p:cNvSpPr/>
          <p:nvPr/>
        </p:nvSpPr>
        <p:spPr>
          <a:xfrm>
            <a:off x="533400" y="3438525"/>
            <a:ext cx="11125200" cy="2438400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01"/>
          <p:cNvSpPr txBox="1"/>
          <p:nvPr/>
        </p:nvSpPr>
        <p:spPr>
          <a:xfrm>
            <a:off x="800100" y="3714750"/>
            <a:ext cx="276225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0" name="Orientierung"/>
          <p:cNvSpPr txBox="1"/>
          <p:nvPr/>
        </p:nvSpPr>
        <p:spPr>
          <a:xfrm>
            <a:off x="800100" y="435292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Orientierung</a:t>
            </a:r>
          </a:p>
        </p:txBody>
      </p:sp>
      <p:sp>
        <p:nvSpPr>
          <p:cNvPr id="11" name="Was ist heute dran?"/>
          <p:cNvSpPr txBox="1"/>
          <p:nvPr/>
        </p:nvSpPr>
        <p:spPr>
          <a:xfrm>
            <a:off x="800100" y="4933950"/>
            <a:ext cx="2857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Was ist heute dran?</a:t>
            </a:r>
          </a:p>
        </p:txBody>
      </p:sp>
      <p:sp>
        <p:nvSpPr>
          <p:cNvPr id="12" name="02"/>
          <p:cNvSpPr txBox="1"/>
          <p:nvPr/>
        </p:nvSpPr>
        <p:spPr>
          <a:xfrm>
            <a:off x="4514850" y="3714750"/>
            <a:ext cx="276225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3" name="Ein klarer Start"/>
          <p:cNvSpPr txBox="1"/>
          <p:nvPr/>
        </p:nvSpPr>
        <p:spPr>
          <a:xfrm>
            <a:off x="4514850" y="435292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Ein klarer Start</a:t>
            </a:r>
          </a:p>
        </p:txBody>
      </p:sp>
      <p:sp>
        <p:nvSpPr>
          <p:cNvPr id="14" name="Wie beginne ich?"/>
          <p:cNvSpPr txBox="1"/>
          <p:nvPr/>
        </p:nvSpPr>
        <p:spPr>
          <a:xfrm>
            <a:off x="4514850" y="4933950"/>
            <a:ext cx="2857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Wie beginne ich?</a:t>
            </a:r>
          </a:p>
        </p:txBody>
      </p:sp>
      <p:sp>
        <p:nvSpPr>
          <p:cNvPr id="15" name="03"/>
          <p:cNvSpPr txBox="1"/>
          <p:nvPr/>
        </p:nvSpPr>
        <p:spPr>
          <a:xfrm>
            <a:off x="8229600" y="3714750"/>
            <a:ext cx="276225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6" name="Passend weiter"/>
          <p:cNvSpPr txBox="1"/>
          <p:nvPr/>
        </p:nvSpPr>
        <p:spPr>
          <a:xfrm>
            <a:off x="8229600" y="435292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Passend weiter</a:t>
            </a:r>
          </a:p>
        </p:txBody>
      </p:sp>
      <p:sp>
        <p:nvSpPr>
          <p:cNvPr id="17" name="Was brauche ich danach?"/>
          <p:cNvSpPr txBox="1"/>
          <p:nvPr/>
        </p:nvSpPr>
        <p:spPr>
          <a:xfrm>
            <a:off x="8229600" y="4933950"/>
            <a:ext cx="2857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Was brauche ich danach?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ZWEI SPALTE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ZWEI SPALTEN</a:t>
            </a:r>
          </a:p>
        </p:txBody>
      </p:sp>
      <p:sp>
        <p:nvSpPr>
          <p:cNvPr id="4" name="Von der Frage zum nächsten Schrit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Von der Frage zum nächsten Schritt.</a:t>
            </a:r>
          </a:p>
        </p:txBody>
      </p:sp>
      <p:sp>
        <p:nvSpPr>
          <p:cNvPr id="5" name="[Kontext für den Vergleich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[Kontext für den Vergleich]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6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06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000375"/>
            <a:ext cx="5448300" cy="2981325"/>
          </a:xfrm>
          <a:prstGeom prst="roundRect">
            <a:avLst>
              <a:gd name="adj" fmla="val 894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e Ausgangslage"/>
          <p:cNvSpPr txBox="1"/>
          <p:nvPr/>
        </p:nvSpPr>
        <p:spPr>
          <a:xfrm>
            <a:off x="838200" y="3257550"/>
            <a:ext cx="4810125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Die Ausgangslage</a:t>
            </a:r>
          </a:p>
        </p:txBody>
      </p:sp>
      <p:sp>
        <p:nvSpPr>
          <p:cNvPr id="11" name="[Beschreibe die Situation.]&#10;&#10;[Was macht den Start schwer?]&#10;&#10;"/>
          <p:cNvSpPr txBox="1"/>
          <p:nvPr/>
        </p:nvSpPr>
        <p:spPr>
          <a:xfrm>
            <a:off x="838200" y="3962399"/>
            <a:ext cx="481012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[Beschreibe die Situation.]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[Was macht den Start schwer?]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[Was soll einfacher werden?]</a:t>
            </a:r>
          </a:p>
        </p:txBody>
      </p:sp>
      <p:sp>
        <p:nvSpPr>
          <p:cNvPr id="12" name="Text"/>
          <p:cNvSpPr/>
          <p:nvPr/>
        </p:nvSpPr>
        <p:spPr>
          <a:xfrm>
            <a:off x="6210300" y="3000375"/>
            <a:ext cx="5448300" cy="2981325"/>
          </a:xfrm>
          <a:prstGeom prst="roundRect">
            <a:avLst>
              <a:gd name="adj" fmla="val 8945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nser Ansatz"/>
          <p:cNvSpPr txBox="1"/>
          <p:nvPr/>
        </p:nvSpPr>
        <p:spPr>
          <a:xfrm>
            <a:off x="6515100" y="3257550"/>
            <a:ext cx="4810125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Unser Ansatz</a:t>
            </a:r>
          </a:p>
        </p:txBody>
      </p:sp>
      <p:sp>
        <p:nvSpPr>
          <p:cNvPr id="14" name="[Beschreibe die Antwort.]&#10;&#10;[Wie wird der nächste Schritt kla"/>
          <p:cNvSpPr txBox="1"/>
          <p:nvPr/>
        </p:nvSpPr>
        <p:spPr>
          <a:xfrm>
            <a:off x="6515100" y="3962399"/>
            <a:ext cx="481012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[Beschreibe die Antwort.]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[Wie wird der nächste Schritt klar?]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[Woran erkennen wir Fortschritt?]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DREI BAUSTEIN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DREI BAUSTEINE</a:t>
            </a:r>
          </a:p>
        </p:txBody>
      </p:sp>
      <p:sp>
        <p:nvSpPr>
          <p:cNvPr id="4" name="Ein Lernweg, der zusammenpass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Lernweg, der zusammenpasst.</a:t>
            </a:r>
          </a:p>
        </p:txBody>
      </p:sp>
      <p:sp>
        <p:nvSpPr>
          <p:cNvPr id="5" name="[Drei Gedanken, die die Kernaussage tragen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[Drei Gedanken, die die Kernaussage tragen]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7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07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81325"/>
            <a:ext cx="3505200" cy="2952750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1"/>
          <p:cNvSpPr txBox="1"/>
          <p:nvPr/>
        </p:nvSpPr>
        <p:spPr>
          <a:xfrm>
            <a:off x="800100" y="3209925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1" name="Prüfung"/>
          <p:cNvSpPr txBox="1"/>
          <p:nvPr/>
        </p:nvSpPr>
        <p:spPr>
          <a:xfrm>
            <a:off x="800100" y="3933824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Prüfung</a:t>
            </a:r>
          </a:p>
        </p:txBody>
      </p:sp>
      <p:sp>
        <p:nvSpPr>
          <p:cNvPr id="12" name="Termin, Themen und verfügbare Zeit geben den Rahmen."/>
          <p:cNvSpPr txBox="1"/>
          <p:nvPr/>
        </p:nvSpPr>
        <p:spPr>
          <a:xfrm>
            <a:off x="800100" y="4743450"/>
            <a:ext cx="2971800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Termin, Themen und verfügbare Zeit geben den Rahmen.</a:t>
            </a:r>
          </a:p>
        </p:txBody>
      </p:sp>
      <p:sp>
        <p:nvSpPr>
          <p:cNvPr id="13" name="Text"/>
          <p:cNvSpPr/>
          <p:nvPr/>
        </p:nvSpPr>
        <p:spPr>
          <a:xfrm>
            <a:off x="4343400" y="2981325"/>
            <a:ext cx="3505200" cy="2952750"/>
          </a:xfrm>
          <a:prstGeom prst="roundRect">
            <a:avLst>
              <a:gd name="adj" fmla="val 7741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2"/>
          <p:cNvSpPr txBox="1"/>
          <p:nvPr/>
        </p:nvSpPr>
        <p:spPr>
          <a:xfrm>
            <a:off x="4610100" y="3209925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5" name="Lernschritt"/>
          <p:cNvSpPr txBox="1"/>
          <p:nvPr/>
        </p:nvSpPr>
        <p:spPr>
          <a:xfrm>
            <a:off x="4610100" y="3933824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Lernschritt</a:t>
            </a:r>
          </a:p>
        </p:txBody>
      </p:sp>
      <p:sp>
        <p:nvSpPr>
          <p:cNvPr id="16" name="Ein konkreter Fokus erleichtert den Anfang."/>
          <p:cNvSpPr txBox="1"/>
          <p:nvPr/>
        </p:nvSpPr>
        <p:spPr>
          <a:xfrm>
            <a:off x="4610100" y="4743450"/>
            <a:ext cx="2971800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Ein konkreter Fokus erleichtert den Anfang.</a:t>
            </a:r>
          </a:p>
        </p:txBody>
      </p:sp>
      <p:sp>
        <p:nvSpPr>
          <p:cNvPr id="17" name="Text"/>
          <p:cNvSpPr/>
          <p:nvPr/>
        </p:nvSpPr>
        <p:spPr>
          <a:xfrm>
            <a:off x="8153399" y="2981325"/>
            <a:ext cx="3505200" cy="2952750"/>
          </a:xfrm>
          <a:prstGeom prst="roundRect">
            <a:avLst>
              <a:gd name="adj" fmla="val 7741"/>
            </a:avLst>
          </a:prstGeom>
          <a:solidFill>
            <a:srgbClr val="EE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3"/>
          <p:cNvSpPr txBox="1"/>
          <p:nvPr/>
        </p:nvSpPr>
        <p:spPr>
          <a:xfrm>
            <a:off x="8420100" y="3209925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9" name="Rückmeldung"/>
          <p:cNvSpPr txBox="1"/>
          <p:nvPr/>
        </p:nvSpPr>
        <p:spPr>
          <a:xfrm>
            <a:off x="8420100" y="3933824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Rückmeldung</a:t>
            </a:r>
          </a:p>
        </p:txBody>
      </p:sp>
      <p:sp>
        <p:nvSpPr>
          <p:cNvPr id="20" name="Antworten zeigen, was als Nächstes sinnvoll ist."/>
          <p:cNvSpPr txBox="1"/>
          <p:nvPr/>
        </p:nvSpPr>
        <p:spPr>
          <a:xfrm>
            <a:off x="8420100" y="4743450"/>
            <a:ext cx="2971800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Antworten zeigen, was als Nächstes sinnvoll ist.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PROZESS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PROZESS</a:t>
            </a:r>
          </a:p>
        </p:txBody>
      </p:sp>
      <p:sp>
        <p:nvSpPr>
          <p:cNvPr id="4" name="Vom Stoff zum Lernschrit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Vom Stoff zum Lernschritt.</a:t>
            </a:r>
          </a:p>
        </p:txBody>
      </p:sp>
      <p:sp>
        <p:nvSpPr>
          <p:cNvPr id="5" name="Ein Ablauf, den man auf einen Blick versteht.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Ein Ablauf, den man auf einen Blick versteht.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8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08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1"/>
          <p:cNvSpPr txBox="1"/>
          <p:nvPr/>
        </p:nvSpPr>
        <p:spPr>
          <a:xfrm>
            <a:off x="533400" y="3209925"/>
            <a:ext cx="609600" cy="609600"/>
          </a:xfrm>
          <a:prstGeom prst="rect">
            <a:avLst/>
          </a:prstGeom>
          <a:noFill/>
        </p:spPr>
        <p:txBody>
          <a:bodyPr wrap="square" lIns="0" rIns="0" tIns="7734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1</a:t>
            </a:r>
          </a:p>
        </p:txBody>
      </p:sp>
      <p:sp>
        <p:nvSpPr>
          <p:cNvPr id="11" name="Text"/>
          <p:cNvSpPr/>
          <p:nvPr/>
        </p:nvSpPr>
        <p:spPr>
          <a:xfrm>
            <a:off x="1333500" y="3500437"/>
            <a:ext cx="1866899" cy="2857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intragen"/>
          <p:cNvSpPr txBox="1"/>
          <p:nvPr/>
        </p:nvSpPr>
        <p:spPr>
          <a:xfrm>
            <a:off x="5334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Eintragen</a:t>
            </a:r>
          </a:p>
        </p:txBody>
      </p:sp>
      <p:sp>
        <p:nvSpPr>
          <p:cNvPr id="13" name="Prüfung, Themen&#10;und freie Zeit"/>
          <p:cNvSpPr txBox="1"/>
          <p:nvPr/>
        </p:nvSpPr>
        <p:spPr>
          <a:xfrm>
            <a:off x="5334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Prüfung, Themen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und freie Zeit</a:t>
            </a:r>
          </a:p>
        </p:txBody>
      </p:sp>
      <p:sp>
        <p:nvSpPr>
          <p:cNvPr id="14" name="Text"/>
          <p:cNvSpPr/>
          <p:nvPr/>
        </p:nvSpPr>
        <p:spPr>
          <a:xfrm>
            <a:off x="33909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2"/>
          <p:cNvSpPr txBox="1"/>
          <p:nvPr/>
        </p:nvSpPr>
        <p:spPr>
          <a:xfrm>
            <a:off x="3390900" y="3209925"/>
            <a:ext cx="609600" cy="609600"/>
          </a:xfrm>
          <a:prstGeom prst="rect">
            <a:avLst/>
          </a:prstGeom>
          <a:noFill/>
        </p:spPr>
        <p:txBody>
          <a:bodyPr wrap="square" lIns="0" rIns="0" tIns="12001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2</a:t>
            </a:r>
          </a:p>
        </p:txBody>
      </p:sp>
      <p:sp>
        <p:nvSpPr>
          <p:cNvPr id="16" name="Text"/>
          <p:cNvSpPr/>
          <p:nvPr/>
        </p:nvSpPr>
        <p:spPr>
          <a:xfrm>
            <a:off x="4190999" y="3500437"/>
            <a:ext cx="1866899" cy="2857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lan ansehen"/>
          <p:cNvSpPr txBox="1"/>
          <p:nvPr/>
        </p:nvSpPr>
        <p:spPr>
          <a:xfrm>
            <a:off x="33909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Plan ansehen</a:t>
            </a:r>
          </a:p>
        </p:txBody>
      </p:sp>
      <p:sp>
        <p:nvSpPr>
          <p:cNvPr id="18" name="Die nächsten&#10;Lerntage im Blick"/>
          <p:cNvSpPr txBox="1"/>
          <p:nvPr/>
        </p:nvSpPr>
        <p:spPr>
          <a:xfrm>
            <a:off x="33909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Die nächsten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Lerntage im Blick</a:t>
            </a:r>
          </a:p>
        </p:txBody>
      </p:sp>
      <p:sp>
        <p:nvSpPr>
          <p:cNvPr id="19" name="Text"/>
          <p:cNvSpPr/>
          <p:nvPr/>
        </p:nvSpPr>
        <p:spPr>
          <a:xfrm>
            <a:off x="62484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3"/>
          <p:cNvSpPr txBox="1"/>
          <p:nvPr/>
        </p:nvSpPr>
        <p:spPr>
          <a:xfrm>
            <a:off x="6248400" y="3209925"/>
            <a:ext cx="609600" cy="609600"/>
          </a:xfrm>
          <a:prstGeom prst="rect">
            <a:avLst/>
          </a:prstGeom>
          <a:noFill/>
        </p:spPr>
        <p:txBody>
          <a:bodyPr wrap="square" lIns="0" rIns="0" tIns="10934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3</a:t>
            </a:r>
          </a:p>
        </p:txBody>
      </p:sp>
      <p:sp>
        <p:nvSpPr>
          <p:cNvPr id="21" name="Text"/>
          <p:cNvSpPr/>
          <p:nvPr/>
        </p:nvSpPr>
        <p:spPr>
          <a:xfrm>
            <a:off x="7048500" y="3500437"/>
            <a:ext cx="1866899" cy="2857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tarten"/>
          <p:cNvSpPr txBox="1"/>
          <p:nvPr/>
        </p:nvSpPr>
        <p:spPr>
          <a:xfrm>
            <a:off x="62484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Starten</a:t>
            </a:r>
          </a:p>
        </p:txBody>
      </p:sp>
      <p:sp>
        <p:nvSpPr>
          <p:cNvPr id="23" name="Ein klarer Fokus&#10;für heute"/>
          <p:cNvSpPr txBox="1"/>
          <p:nvPr/>
        </p:nvSpPr>
        <p:spPr>
          <a:xfrm>
            <a:off x="62484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Ein klarer Fokus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für heute</a:t>
            </a:r>
          </a:p>
        </p:txBody>
      </p:sp>
      <p:sp>
        <p:nvSpPr>
          <p:cNvPr id="24" name="Text"/>
          <p:cNvSpPr/>
          <p:nvPr/>
        </p:nvSpPr>
        <p:spPr>
          <a:xfrm>
            <a:off x="91059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4"/>
          <p:cNvSpPr txBox="1"/>
          <p:nvPr/>
        </p:nvSpPr>
        <p:spPr>
          <a:xfrm>
            <a:off x="9105900" y="3209925"/>
            <a:ext cx="609600" cy="609600"/>
          </a:xfrm>
          <a:prstGeom prst="rect">
            <a:avLst/>
          </a:prstGeom>
          <a:noFill/>
        </p:spPr>
        <p:txBody>
          <a:bodyPr wrap="square" lIns="0" rIns="0" tIns="5334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4</a:t>
            </a:r>
          </a:p>
        </p:txBody>
      </p:sp>
      <p:sp>
        <p:nvSpPr>
          <p:cNvPr id="26" name="Weiterlernen"/>
          <p:cNvSpPr txBox="1"/>
          <p:nvPr/>
        </p:nvSpPr>
        <p:spPr>
          <a:xfrm>
            <a:off x="91059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Weiterlernen</a:t>
            </a:r>
          </a:p>
        </p:txBody>
      </p:sp>
      <p:sp>
        <p:nvSpPr>
          <p:cNvPr id="27" name="Antworten geben&#10;die Richtung vor"/>
          <p:cNvSpPr txBox="1"/>
          <p:nvPr/>
        </p:nvSpPr>
        <p:spPr>
          <a:xfrm>
            <a:off x="91059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Antworten geben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die Richtung vor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PRODUKTEINBLICK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PRODUKTEINBLICK</a:t>
            </a:r>
          </a:p>
        </p:txBody>
      </p:sp>
      <p:sp>
        <p:nvSpPr>
          <p:cNvPr id="4" name="Ein klarer Fokus&#10;für heute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klarer Fokus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für heute.</a:t>
            </a:r>
          </a:p>
        </p:txBody>
      </p:sp>
      <p:sp>
        <p:nvSpPr>
          <p:cNvPr id="5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7" name="09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09</a:t>
            </a:r>
          </a:p>
        </p:txBody>
      </p:sp>
      <p:sp>
        <p:nvSpPr>
          <p:cNvPr id="8" name="[Erkläre den gezeigten Moment&#10;in höchstens zwei Sätzen.]"/>
          <p:cNvSpPr txBox="1"/>
          <p:nvPr/>
        </p:nvSpPr>
        <p:spPr>
          <a:xfrm>
            <a:off x="533400" y="3286125"/>
            <a:ext cx="657225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5F6B7C"/>
                </a:solidFill>
                <a:latin typeface="Poppins"/>
              </a:defRPr>
            </a:pPr>
            <a:r>
              <a:t>[Erkläre den gezeigten Moment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5F6B7C"/>
                </a:solidFill>
                <a:latin typeface="Poppins"/>
              </a:defRPr>
            </a:pPr>
            <a:r>
              <a:t>in höchstens zwei Sätzen.]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4895850"/>
            <a:ext cx="5695950" cy="952500"/>
          </a:xfrm>
          <a:prstGeom prst="roundRect">
            <a:avLst>
              <a:gd name="adj" fmla="val 22000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ILDQUELLE IM FOLIENKOMMENTAR&#10;Vor Veröffentlichung aktualisi"/>
          <p:cNvSpPr txBox="1"/>
          <p:nvPr/>
        </p:nvSpPr>
        <p:spPr>
          <a:xfrm>
            <a:off x="781050" y="5114925"/>
            <a:ext cx="52197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1A"/>
                </a:solidFill>
                <a:latin typeface="Poppins"/>
              </a:defRPr>
            </a:pPr>
            <a:r>
              <a:t>BILDQUELLE IM FOLIENKOMMENTAR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1A"/>
                </a:solidFill>
                <a:latin typeface="Poppins"/>
              </a:defRPr>
            </a:pPr>
            <a:r>
              <a:t>Vor Veröffentlichung aktualisieren.</a:t>
            </a:r>
          </a:p>
        </p:txBody>
      </p:sp>
      <p:pic>
        <p:nvPicPr>
          <p:cNvPr id="11" name="Picture 10" descr="Dayova App – aufgezeichneter Onboarding-Zust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5350" y="1038225"/>
            <a:ext cx="2266950" cy="50577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BILD + TEXT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BILD + TEXT</a:t>
            </a:r>
          </a:p>
        </p:txBody>
      </p:sp>
      <p:sp>
        <p:nvSpPr>
          <p:cNvPr id="4" name="Ein Bild. Eine klare Aussage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Bild. Eine klare Aussage.</a:t>
            </a:r>
          </a:p>
        </p:txBody>
      </p:sp>
      <p:sp>
        <p:nvSpPr>
          <p:cNvPr id="5" name="[Was zeigt das Bild und warum ist es relevant?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[Was zeigt das Bild und warum ist es relevant?]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0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10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62275"/>
            <a:ext cx="7086600" cy="3028950"/>
          </a:xfrm>
          <a:prstGeom prst="roundRect">
            <a:avLst>
              <a:gd name="adj" fmla="val 8805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Bild einsetzen]"/>
          <p:cNvSpPr txBox="1"/>
          <p:nvPr/>
        </p:nvSpPr>
        <p:spPr>
          <a:xfrm>
            <a:off x="1238250" y="4010025"/>
            <a:ext cx="57150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5F6B7C"/>
                </a:solidFill>
                <a:latin typeface="Poppins SemiBold"/>
              </a:defRPr>
            </a:pPr>
            <a:r>
              <a:t>[Bild einsetzen]</a:t>
            </a:r>
          </a:p>
        </p:txBody>
      </p:sp>
      <p:sp>
        <p:nvSpPr>
          <p:cNvPr id="11" name="FORMAT  2,3 : 1"/>
          <p:cNvSpPr txBox="1"/>
          <p:nvPr/>
        </p:nvSpPr>
        <p:spPr>
          <a:xfrm>
            <a:off x="2000250" y="4848225"/>
            <a:ext cx="41909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F6B7C"/>
                </a:solidFill>
                <a:latin typeface="Poppins"/>
              </a:defRPr>
            </a:pPr>
            <a:r>
              <a:t>FORMAT  2,3 : 1</a:t>
            </a:r>
          </a:p>
        </p:txBody>
      </p:sp>
      <p:sp>
        <p:nvSpPr>
          <p:cNvPr id="12" name="[Kernaussage]"/>
          <p:cNvSpPr txBox="1"/>
          <p:nvPr/>
        </p:nvSpPr>
        <p:spPr>
          <a:xfrm>
            <a:off x="8039099" y="3105150"/>
            <a:ext cx="3619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[Kernaussage]</a:t>
            </a:r>
          </a:p>
        </p:txBody>
      </p:sp>
      <p:sp>
        <p:nvSpPr>
          <p:cNvPr id="13" name="[Kurze Einordnung]&#10;&#10;[Wichtigstes Detail]&#10;&#10;[Quelle / Stand]"/>
          <p:cNvSpPr txBox="1"/>
          <p:nvPr/>
        </p:nvSpPr>
        <p:spPr>
          <a:xfrm>
            <a:off x="8039099" y="4048124"/>
            <a:ext cx="3619500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[Kurze Einordnung]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[Wichtigstes Detail]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[Quelle / Stand]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KENNZAHLE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KENNZAHLEN</a:t>
            </a:r>
          </a:p>
        </p:txBody>
      </p:sp>
      <p:sp>
        <p:nvSpPr>
          <p:cNvPr id="4" name="Fortschritt sichtbar mach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Fortschritt sichtbar machen.</a:t>
            </a:r>
          </a:p>
        </p:txBody>
      </p:sp>
      <p:sp>
        <p:nvSpPr>
          <p:cNvPr id="5" name="Fiktives Beispiel · Werte vor Verwendung ersetzen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Fiktives Beispiel · Werte vor Verwendung ersetzen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1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11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124200"/>
            <a:ext cx="3505200" cy="2686050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24"/>
          <p:cNvSpPr txBox="1"/>
          <p:nvPr/>
        </p:nvSpPr>
        <p:spPr>
          <a:xfrm>
            <a:off x="800100" y="3438525"/>
            <a:ext cx="297180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575" b="0">
                <a:solidFill>
                  <a:srgbClr val="1A1A1A"/>
                </a:solidFill>
                <a:latin typeface="Poppins SemiBold"/>
              </a:defRPr>
            </a:pPr>
            <a:r>
              <a:t>24</a:t>
            </a:r>
          </a:p>
        </p:txBody>
      </p:sp>
      <p:sp>
        <p:nvSpPr>
          <p:cNvPr id="11" name="Lernschritte"/>
          <p:cNvSpPr txBox="1"/>
          <p:nvPr/>
        </p:nvSpPr>
        <p:spPr>
          <a:xfrm>
            <a:off x="800100" y="4638675"/>
            <a:ext cx="29718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Lernschritte</a:t>
            </a:r>
          </a:p>
        </p:txBody>
      </p:sp>
      <p:sp>
        <p:nvSpPr>
          <p:cNvPr id="12" name="im betrachteten Zeitraum"/>
          <p:cNvSpPr txBox="1"/>
          <p:nvPr/>
        </p:nvSpPr>
        <p:spPr>
          <a:xfrm>
            <a:off x="800100" y="5314950"/>
            <a:ext cx="29718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5F6B7C"/>
                </a:solidFill>
                <a:latin typeface="Poppins"/>
              </a:defRPr>
            </a:pPr>
            <a:r>
              <a:t>im betrachteten Zeitraum</a:t>
            </a:r>
          </a:p>
        </p:txBody>
      </p:sp>
      <p:sp>
        <p:nvSpPr>
          <p:cNvPr id="13" name="Text"/>
          <p:cNvSpPr/>
          <p:nvPr/>
        </p:nvSpPr>
        <p:spPr>
          <a:xfrm>
            <a:off x="4343400" y="3124200"/>
            <a:ext cx="3505200" cy="2686050"/>
          </a:xfrm>
          <a:prstGeom prst="roundRect">
            <a:avLst>
              <a:gd name="adj" fmla="val 9929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75 %"/>
          <p:cNvSpPr txBox="1"/>
          <p:nvPr/>
        </p:nvSpPr>
        <p:spPr>
          <a:xfrm>
            <a:off x="4610100" y="3438525"/>
            <a:ext cx="297180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575" b="0">
                <a:solidFill>
                  <a:srgbClr val="1A1A1A"/>
                </a:solidFill>
                <a:latin typeface="Poppins SemiBold"/>
              </a:defRPr>
            </a:pPr>
            <a:r>
              <a:t>75 %</a:t>
            </a:r>
          </a:p>
        </p:txBody>
      </p:sp>
      <p:sp>
        <p:nvSpPr>
          <p:cNvPr id="15" name="Abgeschlossen"/>
          <p:cNvSpPr txBox="1"/>
          <p:nvPr/>
        </p:nvSpPr>
        <p:spPr>
          <a:xfrm>
            <a:off x="4610100" y="4638675"/>
            <a:ext cx="29718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Abgeschlossen</a:t>
            </a:r>
          </a:p>
        </p:txBody>
      </p:sp>
      <p:sp>
        <p:nvSpPr>
          <p:cNvPr id="16" name="18 von 24 Lernschritten"/>
          <p:cNvSpPr txBox="1"/>
          <p:nvPr/>
        </p:nvSpPr>
        <p:spPr>
          <a:xfrm>
            <a:off x="4610100" y="5314950"/>
            <a:ext cx="29718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5F6B7C"/>
                </a:solidFill>
                <a:latin typeface="Poppins"/>
              </a:defRPr>
            </a:pPr>
            <a:r>
              <a:t>18 von 24 Lernschritten</a:t>
            </a:r>
          </a:p>
        </p:txBody>
      </p:sp>
      <p:sp>
        <p:nvSpPr>
          <p:cNvPr id="17" name="Text"/>
          <p:cNvSpPr/>
          <p:nvPr/>
        </p:nvSpPr>
        <p:spPr>
          <a:xfrm>
            <a:off x="8153399" y="3124200"/>
            <a:ext cx="3505200" cy="2686050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30 Min."/>
          <p:cNvSpPr txBox="1"/>
          <p:nvPr/>
        </p:nvSpPr>
        <p:spPr>
          <a:xfrm>
            <a:off x="8420100" y="3438525"/>
            <a:ext cx="297180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575" b="0">
                <a:solidFill>
                  <a:srgbClr val="1A1A1A"/>
                </a:solidFill>
                <a:latin typeface="Poppins SemiBold"/>
              </a:defRPr>
            </a:pPr>
            <a:r>
              <a:t>30 Min.</a:t>
            </a:r>
          </a:p>
        </p:txBody>
      </p:sp>
      <p:sp>
        <p:nvSpPr>
          <p:cNvPr id="19" name="Pro Lernschritt"/>
          <p:cNvSpPr txBox="1"/>
          <p:nvPr/>
        </p:nvSpPr>
        <p:spPr>
          <a:xfrm>
            <a:off x="8420100" y="4638675"/>
            <a:ext cx="29718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Pro Lernschritt</a:t>
            </a:r>
          </a:p>
        </p:txBody>
      </p:sp>
      <p:sp>
        <p:nvSpPr>
          <p:cNvPr id="20" name="geplante Dauer im Beispiel"/>
          <p:cNvSpPr txBox="1"/>
          <p:nvPr/>
        </p:nvSpPr>
        <p:spPr>
          <a:xfrm>
            <a:off x="8420100" y="5314950"/>
            <a:ext cx="29718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5F6B7C"/>
                </a:solidFill>
                <a:latin typeface="Poppins"/>
              </a:defRPr>
            </a:pPr>
            <a:r>
              <a:t>geplante Dauer im Beispiel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DIAGRAMM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DIAGRAMM</a:t>
            </a:r>
          </a:p>
        </p:txBody>
      </p:sp>
      <p:sp>
        <p:nvSpPr>
          <p:cNvPr id="4" name="Eine Entwicklung, die lesbar bleib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Eine Entwicklung, die lesbar bleibt.</a:t>
            </a:r>
          </a:p>
        </p:txBody>
      </p:sp>
      <p:sp>
        <p:nvSpPr>
          <p:cNvPr id="5" name="Abgeschlossene Lernschritte je Woche · Fiktives Beispiel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Abgeschlossene Lernschritte je Woche · Fiktives Beispiel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2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12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52750"/>
            <a:ext cx="7429500" cy="3133725"/>
          </a:xfrm>
          <a:prstGeom prst="roundRect">
            <a:avLst>
              <a:gd name="adj" fmla="val 729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19150" y="3181350"/>
          <a:ext cx="6705600" cy="250507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[Was fällt auf?]"/>
          <p:cNvSpPr txBox="1"/>
          <p:nvPr/>
        </p:nvSpPr>
        <p:spPr>
          <a:xfrm>
            <a:off x="8401050" y="3219450"/>
            <a:ext cx="3238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[Was fällt auf?]</a:t>
            </a:r>
          </a:p>
        </p:txBody>
      </p:sp>
      <p:sp>
        <p:nvSpPr>
          <p:cNvPr id="12" name="[Beobachtung]&#10;&#10;[Einordnung]&#10;&#10;[Nächster Schritt]"/>
          <p:cNvSpPr txBox="1"/>
          <p:nvPr/>
        </p:nvSpPr>
        <p:spPr>
          <a:xfrm>
            <a:off x="8401050" y="4133849"/>
            <a:ext cx="3238500" cy="1638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[Beobachtung]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[Einordnung]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[Nächster Schritt]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TABELL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TABELLE</a:t>
            </a:r>
          </a:p>
        </p:txBody>
      </p:sp>
      <p:sp>
        <p:nvSpPr>
          <p:cNvPr id="4" name="Details, die die Entscheidung trag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Details, die die Entscheidung tragen.</a:t>
            </a:r>
          </a:p>
        </p:txBody>
      </p:sp>
      <p:sp>
        <p:nvSpPr>
          <p:cNvPr id="5" name="Fiktives Beispiel · Status immer auch als Text zeigen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Fiktives Beispiel · Status immer auch als Text zeigen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3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3400" y="3028950"/>
          <a:ext cx="11125200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1300"/>
                <a:gridCol w="2781300"/>
                <a:gridCol w="2781300"/>
                <a:gridCol w="2781300"/>
              </a:tblGrid>
              <a:tr h="67151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Bereich</a:t>
                      </a:r>
                    </a:p>
                  </a:txBody>
                  <a:tcPr marL="164592" marT="0" marB="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Beobachtung</a:t>
                      </a:r>
                    </a:p>
                  </a:txBody>
                  <a:tcPr marL="164592" marT="0" marB="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Status</a:t>
                      </a:r>
                    </a:p>
                  </a:txBody>
                  <a:tcPr marL="164592" marT="0" marB="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Nächster Schritt</a:t>
                      </a:r>
                    </a:p>
                  </a:txBody>
                  <a:tcPr marL="164592" marT="0" marB="0" anchor="ctr">
                    <a:solidFill>
                      <a:srgbClr val="1A1A1A"/>
                    </a:solidFill>
                  </a:tcPr>
                </a:tc>
              </a:tr>
              <a:tr h="67151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Planung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[Kurze Beobachtung]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Offen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[Aktion]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</a:tr>
              <a:tr h="67151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Lernschritte</a:t>
                      </a:r>
                    </a:p>
                  </a:txBody>
                  <a:tcPr marL="164592" marT="0" marB="0" anchor="ctr">
                    <a:solidFill>
                      <a:srgbClr val="F1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[Kurze Beobachtung]</a:t>
                      </a:r>
                    </a:p>
                  </a:txBody>
                  <a:tcPr marL="164592" marT="0" marB="0" anchor="ctr">
                    <a:solidFill>
                      <a:srgbClr val="F1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In Arbeit</a:t>
                      </a:r>
                    </a:p>
                  </a:txBody>
                  <a:tcPr marL="164592" marT="0" marB="0" anchor="ctr">
                    <a:solidFill>
                      <a:srgbClr val="F1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[Aktion]</a:t>
                      </a:r>
                    </a:p>
                  </a:txBody>
                  <a:tcPr marL="164592" marT="0" marB="0" anchor="ctr">
                    <a:solidFill>
                      <a:srgbClr val="F1F7FB"/>
                    </a:solidFill>
                  </a:tcPr>
                </a:tc>
              </a:tr>
              <a:tr h="67151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Rückmeldung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[Kurze Beobachtung]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Erledigt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[Aktion]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ZEITPLA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ZEITPLAN</a:t>
            </a:r>
          </a:p>
        </p:txBody>
      </p:sp>
      <p:sp>
        <p:nvSpPr>
          <p:cNvPr id="4" name="Ein Plan mit klaren Etapp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Plan mit klaren Etappen.</a:t>
            </a:r>
          </a:p>
        </p:txBody>
      </p:sp>
      <p:sp>
        <p:nvSpPr>
          <p:cNvPr id="5" name="[Zeitraum und Ziel] · Beispielablauf, keine Zusage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[Zeitraum und Ziel] · Beispielablauf, keine Zusage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4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14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1"/>
          <p:cNvSpPr txBox="1"/>
          <p:nvPr/>
        </p:nvSpPr>
        <p:spPr>
          <a:xfrm>
            <a:off x="5334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1" name="Vorbereiten"/>
          <p:cNvSpPr txBox="1"/>
          <p:nvPr/>
        </p:nvSpPr>
        <p:spPr>
          <a:xfrm>
            <a:off x="5334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Vorbereiten</a:t>
            </a:r>
          </a:p>
        </p:txBody>
      </p:sp>
      <p:sp>
        <p:nvSpPr>
          <p:cNvPr id="12" name="Ziel &amp; Rahmen&#10;[Name · Datum]"/>
          <p:cNvSpPr txBox="1"/>
          <p:nvPr/>
        </p:nvSpPr>
        <p:spPr>
          <a:xfrm>
            <a:off x="5334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Ziel &amp; Rahmen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  <p:sp>
        <p:nvSpPr>
          <p:cNvPr id="13" name="Text"/>
          <p:cNvSpPr/>
          <p:nvPr/>
        </p:nvSpPr>
        <p:spPr>
          <a:xfrm>
            <a:off x="33909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2"/>
          <p:cNvSpPr txBox="1"/>
          <p:nvPr/>
        </p:nvSpPr>
        <p:spPr>
          <a:xfrm>
            <a:off x="33909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5" name="Starten"/>
          <p:cNvSpPr txBox="1"/>
          <p:nvPr/>
        </p:nvSpPr>
        <p:spPr>
          <a:xfrm>
            <a:off x="33909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Starten</a:t>
            </a:r>
          </a:p>
        </p:txBody>
      </p:sp>
      <p:sp>
        <p:nvSpPr>
          <p:cNvPr id="16" name="Einführung&#10;[Name · Datum]"/>
          <p:cNvSpPr txBox="1"/>
          <p:nvPr/>
        </p:nvSpPr>
        <p:spPr>
          <a:xfrm>
            <a:off x="33909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Einführung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  <p:sp>
        <p:nvSpPr>
          <p:cNvPr id="17" name="Text"/>
          <p:cNvSpPr/>
          <p:nvPr/>
        </p:nvSpPr>
        <p:spPr>
          <a:xfrm>
            <a:off x="62484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3"/>
          <p:cNvSpPr txBox="1"/>
          <p:nvPr/>
        </p:nvSpPr>
        <p:spPr>
          <a:xfrm>
            <a:off x="62484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9" name="Beobachten"/>
          <p:cNvSpPr txBox="1"/>
          <p:nvPr/>
        </p:nvSpPr>
        <p:spPr>
          <a:xfrm>
            <a:off x="62484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Beobachten</a:t>
            </a:r>
          </a:p>
        </p:txBody>
      </p:sp>
      <p:sp>
        <p:nvSpPr>
          <p:cNvPr id="20" name="Rückmeldung&#10;[Name · Datum]"/>
          <p:cNvSpPr txBox="1"/>
          <p:nvPr/>
        </p:nvSpPr>
        <p:spPr>
          <a:xfrm>
            <a:off x="62484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Rückmeldung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  <p:sp>
        <p:nvSpPr>
          <p:cNvPr id="21" name="Text"/>
          <p:cNvSpPr/>
          <p:nvPr/>
        </p:nvSpPr>
        <p:spPr>
          <a:xfrm>
            <a:off x="91059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04"/>
          <p:cNvSpPr txBox="1"/>
          <p:nvPr/>
        </p:nvSpPr>
        <p:spPr>
          <a:xfrm>
            <a:off x="91059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04</a:t>
            </a:r>
          </a:p>
        </p:txBody>
      </p:sp>
      <p:sp>
        <p:nvSpPr>
          <p:cNvPr id="23" name="Entscheiden"/>
          <p:cNvSpPr txBox="1"/>
          <p:nvPr/>
        </p:nvSpPr>
        <p:spPr>
          <a:xfrm>
            <a:off x="91059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Entscheiden</a:t>
            </a:r>
          </a:p>
        </p:txBody>
      </p:sp>
      <p:sp>
        <p:nvSpPr>
          <p:cNvPr id="24" name="Auswertung&#10;[Name · Datum]"/>
          <p:cNvSpPr txBox="1"/>
          <p:nvPr/>
        </p:nvSpPr>
        <p:spPr>
          <a:xfrm>
            <a:off x="91059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Auswertung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3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ZITAT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Poppins"/>
              </a:defRPr>
            </a:pPr>
            <a:r>
              <a:t>ZITAT</a:t>
            </a:r>
          </a:p>
        </p:txBody>
      </p:sp>
      <p:sp>
        <p:nvSpPr>
          <p:cNvPr id="4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6" name="15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FFFFFF"/>
                </a:solidFill>
                <a:latin typeface="Poppins"/>
              </a:defRPr>
            </a:pPr>
            <a:r>
              <a:t>15</a:t>
            </a:r>
          </a:p>
        </p:txBody>
      </p:sp>
      <p:sp>
        <p:nvSpPr>
          <p:cNvPr id="7" name="“"/>
          <p:cNvSpPr txBox="1"/>
          <p:nvPr/>
        </p:nvSpPr>
        <p:spPr>
          <a:xfrm>
            <a:off x="476250" y="923925"/>
            <a:ext cx="17145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0500" b="0">
                <a:solidFill>
                  <a:srgbClr val="00BAFF"/>
                </a:solidFill>
                <a:latin typeface="Poppins SemiBold"/>
              </a:defRPr>
            </a:pPr>
            <a:r>
              <a:t>“</a:t>
            </a:r>
          </a:p>
        </p:txBody>
      </p:sp>
      <p:sp>
        <p:nvSpPr>
          <p:cNvPr id="8" name="[Ein kurzer Gedanke,&#10;der in Erinnerung&#10;bleiben soll.]"/>
          <p:cNvSpPr txBox="1"/>
          <p:nvPr/>
        </p:nvSpPr>
        <p:spPr>
          <a:xfrm>
            <a:off x="2000250" y="1924049"/>
            <a:ext cx="8858250" cy="236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900" b="0">
                <a:solidFill>
                  <a:srgbClr val="FFFFFF"/>
                </a:solidFill>
                <a:latin typeface="Poppins SemiBold"/>
              </a:defRPr>
            </a:pPr>
            <a:r>
              <a:t>[Ein kurzer Gedanke,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900" b="0">
                <a:solidFill>
                  <a:srgbClr val="FFFFFF"/>
                </a:solidFill>
                <a:latin typeface="Poppins SemiBold"/>
              </a:defRPr>
            </a:pPr>
            <a:r>
              <a:t>der in Erinnerung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900" b="0">
                <a:solidFill>
                  <a:srgbClr val="FFFFFF"/>
                </a:solidFill>
                <a:latin typeface="Poppins SemiBold"/>
              </a:defRPr>
            </a:pPr>
            <a:r>
              <a:t>bleiben soll.]</a:t>
            </a:r>
          </a:p>
        </p:txBody>
      </p:sp>
      <p:sp>
        <p:nvSpPr>
          <p:cNvPr id="9" name="[Name]  ·  [Rolle / Kontext]&#10;[Quelle · Datum · Freigabe]"/>
          <p:cNvSpPr txBox="1"/>
          <p:nvPr/>
        </p:nvSpPr>
        <p:spPr>
          <a:xfrm>
            <a:off x="2076450" y="5057775"/>
            <a:ext cx="8096249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FFFFFF"/>
                </a:solidFill>
                <a:latin typeface="Poppins"/>
              </a:defRPr>
            </a:pPr>
            <a:r>
              <a:t>[Name]  ·  [Rolle / Kontext]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FFFFFF"/>
                </a:solidFill>
                <a:latin typeface="Poppins"/>
              </a:defRPr>
            </a:pPr>
            <a:r>
              <a:t>[Quelle · Datum · Freigabe]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MENSCHE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MENSCHEN</a:t>
            </a:r>
          </a:p>
        </p:txBody>
      </p:sp>
      <p:sp>
        <p:nvSpPr>
          <p:cNvPr id="4" name="Die Menschen hinter dem nächsten Schrit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Die Menschen hinter dem nächsten Schritt.</a:t>
            </a:r>
          </a:p>
        </p:txBody>
      </p:sp>
      <p:sp>
        <p:nvSpPr>
          <p:cNvPr id="5" name="[Team / Ansprechpartner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[Team / Ansprechpartner]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6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16</a:t>
            </a:r>
          </a:p>
        </p:txBody>
      </p:sp>
      <p:sp>
        <p:nvSpPr>
          <p:cNvPr id="9" name="Text"/>
          <p:cNvSpPr/>
          <p:nvPr/>
        </p:nvSpPr>
        <p:spPr>
          <a:xfrm>
            <a:off x="1447800" y="2990850"/>
            <a:ext cx="1676400" cy="1676400"/>
          </a:xfrm>
          <a:prstGeom prst="ellipse">
            <a:avLst/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AB]"/>
          <p:cNvSpPr txBox="1"/>
          <p:nvPr/>
        </p:nvSpPr>
        <p:spPr>
          <a:xfrm>
            <a:off x="1447800" y="2990850"/>
            <a:ext cx="1676400" cy="1676400"/>
          </a:xfrm>
          <a:prstGeom prst="rect">
            <a:avLst/>
          </a:prstGeom>
          <a:noFill/>
        </p:spPr>
        <p:txBody>
          <a:bodyPr wrap="square" lIns="0" rIns="0" tIns="10287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5F6B7C"/>
                </a:solidFill>
                <a:latin typeface="Poppins SemiBold"/>
              </a:defRPr>
            </a:pPr>
            <a:r>
              <a:t>[AB]</a:t>
            </a:r>
          </a:p>
        </p:txBody>
      </p:sp>
      <p:sp>
        <p:nvSpPr>
          <p:cNvPr id="11" name="[Name]"/>
          <p:cNvSpPr txBox="1"/>
          <p:nvPr/>
        </p:nvSpPr>
        <p:spPr>
          <a:xfrm>
            <a:off x="771525" y="4933950"/>
            <a:ext cx="3028950" cy="466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[Name]</a:t>
            </a:r>
          </a:p>
        </p:txBody>
      </p:sp>
      <p:sp>
        <p:nvSpPr>
          <p:cNvPr id="12" name="[Rolle / Schwerpunkt]"/>
          <p:cNvSpPr txBox="1"/>
          <p:nvPr/>
        </p:nvSpPr>
        <p:spPr>
          <a:xfrm>
            <a:off x="647700" y="5553075"/>
            <a:ext cx="3276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[Rolle / Schwerpunkt]</a:t>
            </a:r>
          </a:p>
        </p:txBody>
      </p:sp>
      <p:sp>
        <p:nvSpPr>
          <p:cNvPr id="13" name="Text"/>
          <p:cNvSpPr/>
          <p:nvPr/>
        </p:nvSpPr>
        <p:spPr>
          <a:xfrm>
            <a:off x="5257800" y="2990850"/>
            <a:ext cx="1676400" cy="1676400"/>
          </a:xfrm>
          <a:prstGeom prst="ellipse">
            <a:avLst/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[AB]"/>
          <p:cNvSpPr txBox="1"/>
          <p:nvPr/>
        </p:nvSpPr>
        <p:spPr>
          <a:xfrm>
            <a:off x="5257800" y="2990850"/>
            <a:ext cx="1676400" cy="1676400"/>
          </a:xfrm>
          <a:prstGeom prst="rect">
            <a:avLst/>
          </a:prstGeom>
          <a:noFill/>
        </p:spPr>
        <p:txBody>
          <a:bodyPr wrap="square" lIns="0" rIns="0" tIns="10287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5F6B7C"/>
                </a:solidFill>
                <a:latin typeface="Poppins SemiBold"/>
              </a:defRPr>
            </a:pPr>
            <a:r>
              <a:t>[AB]</a:t>
            </a:r>
          </a:p>
        </p:txBody>
      </p:sp>
      <p:sp>
        <p:nvSpPr>
          <p:cNvPr id="15" name="[Name]"/>
          <p:cNvSpPr txBox="1"/>
          <p:nvPr/>
        </p:nvSpPr>
        <p:spPr>
          <a:xfrm>
            <a:off x="4581525" y="4933950"/>
            <a:ext cx="3028950" cy="466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[Name]</a:t>
            </a:r>
          </a:p>
        </p:txBody>
      </p:sp>
      <p:sp>
        <p:nvSpPr>
          <p:cNvPr id="16" name="[Rolle / Schwerpunkt]"/>
          <p:cNvSpPr txBox="1"/>
          <p:nvPr/>
        </p:nvSpPr>
        <p:spPr>
          <a:xfrm>
            <a:off x="4457700" y="5553075"/>
            <a:ext cx="3276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[Rolle / Schwerpunkt]</a:t>
            </a:r>
          </a:p>
        </p:txBody>
      </p:sp>
      <p:sp>
        <p:nvSpPr>
          <p:cNvPr id="17" name="Text"/>
          <p:cNvSpPr/>
          <p:nvPr/>
        </p:nvSpPr>
        <p:spPr>
          <a:xfrm>
            <a:off x="9067800" y="2990850"/>
            <a:ext cx="1676400" cy="1676400"/>
          </a:xfrm>
          <a:prstGeom prst="ellipse">
            <a:avLst/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[AB]"/>
          <p:cNvSpPr txBox="1"/>
          <p:nvPr/>
        </p:nvSpPr>
        <p:spPr>
          <a:xfrm>
            <a:off x="9067800" y="2990850"/>
            <a:ext cx="1676400" cy="1676400"/>
          </a:xfrm>
          <a:prstGeom prst="rect">
            <a:avLst/>
          </a:prstGeom>
          <a:noFill/>
        </p:spPr>
        <p:txBody>
          <a:bodyPr wrap="square" lIns="0" rIns="0" tIns="10287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5F6B7C"/>
                </a:solidFill>
                <a:latin typeface="Poppins SemiBold"/>
              </a:defRPr>
            </a:pPr>
            <a:r>
              <a:t>[AB]</a:t>
            </a:r>
          </a:p>
        </p:txBody>
      </p:sp>
      <p:sp>
        <p:nvSpPr>
          <p:cNvPr id="19" name="[Name]"/>
          <p:cNvSpPr txBox="1"/>
          <p:nvPr/>
        </p:nvSpPr>
        <p:spPr>
          <a:xfrm>
            <a:off x="8391525" y="4933950"/>
            <a:ext cx="3028950" cy="466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[Name]</a:t>
            </a:r>
          </a:p>
        </p:txBody>
      </p:sp>
      <p:sp>
        <p:nvSpPr>
          <p:cNvPr id="20" name="[Rolle / Schwerpunkt]"/>
          <p:cNvSpPr txBox="1"/>
          <p:nvPr/>
        </p:nvSpPr>
        <p:spPr>
          <a:xfrm>
            <a:off x="8267699" y="5553075"/>
            <a:ext cx="3276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[Rolle / Schwerpunkt]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ENTSCHEIDUNG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ENTSCHEIDUNG</a:t>
            </a:r>
          </a:p>
        </p:txBody>
      </p:sp>
      <p:sp>
        <p:nvSpPr>
          <p:cNvPr id="4" name="Die Optionen im Überblick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Die Optionen im Überblick.</a:t>
            </a:r>
          </a:p>
        </p:txBody>
      </p:sp>
      <p:sp>
        <p:nvSpPr>
          <p:cNvPr id="5" name="[Welche Entscheidung steht an?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[Welche Entscheidung steht an?]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7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17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81325"/>
            <a:ext cx="5448300" cy="295275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ption A"/>
          <p:cNvSpPr txBox="1"/>
          <p:nvPr/>
        </p:nvSpPr>
        <p:spPr>
          <a:xfrm>
            <a:off x="819150" y="3219450"/>
            <a:ext cx="4857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1A1A1A"/>
                </a:solidFill>
                <a:latin typeface="Poppins SemiBold"/>
              </a:defRPr>
            </a:pPr>
            <a:r>
              <a:t>Option A</a:t>
            </a:r>
          </a:p>
        </p:txBody>
      </p:sp>
      <p:sp>
        <p:nvSpPr>
          <p:cNvPr id="11" name="[Nutzen]&#10;&#10;[Aufwand / Voraussetzung]&#10;&#10;[Wichtigste Einschränku"/>
          <p:cNvSpPr txBox="1"/>
          <p:nvPr/>
        </p:nvSpPr>
        <p:spPr>
          <a:xfrm>
            <a:off x="819150" y="3971925"/>
            <a:ext cx="4857750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[Nutzen]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[Aufwand / Voraussetzung]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[Wichtigste Einschränkung]</a:t>
            </a:r>
          </a:p>
        </p:txBody>
      </p:sp>
      <p:sp>
        <p:nvSpPr>
          <p:cNvPr id="12" name="Text"/>
          <p:cNvSpPr/>
          <p:nvPr/>
        </p:nvSpPr>
        <p:spPr>
          <a:xfrm>
            <a:off x="6210300" y="2981325"/>
            <a:ext cx="5448300" cy="2952750"/>
          </a:xfrm>
          <a:prstGeom prst="roundRect">
            <a:avLst>
              <a:gd name="adj" fmla="val 9032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ption B"/>
          <p:cNvSpPr txBox="1"/>
          <p:nvPr/>
        </p:nvSpPr>
        <p:spPr>
          <a:xfrm>
            <a:off x="6496050" y="3219450"/>
            <a:ext cx="4857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1A1A1A"/>
                </a:solidFill>
                <a:latin typeface="Poppins SemiBold"/>
              </a:defRPr>
            </a:pPr>
            <a:r>
              <a:t>Option B</a:t>
            </a:r>
          </a:p>
        </p:txBody>
      </p:sp>
      <p:sp>
        <p:nvSpPr>
          <p:cNvPr id="14" name="[Nutzen]&#10;&#10;[Aufwand / Voraussetzung]&#10;&#10;[Wichtigste Einschränku"/>
          <p:cNvSpPr txBox="1"/>
          <p:nvPr/>
        </p:nvSpPr>
        <p:spPr>
          <a:xfrm>
            <a:off x="6496050" y="3971925"/>
            <a:ext cx="4857750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[Nutzen]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[Aufwand / Voraussetzung]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[Wichtigste Einschränkung]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ayova – originales Bildzeich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14300"/>
            <a:ext cx="762000" cy="762000"/>
          </a:xfrm>
          <a:prstGeom prst="rect">
            <a:avLst/>
          </a:prstGeom>
        </p:spPr>
      </p:pic>
      <p:sp>
        <p:nvSpPr>
          <p:cNvPr id="3" name="dayova."/>
          <p:cNvSpPr txBox="1"/>
          <p:nvPr/>
        </p:nvSpPr>
        <p:spPr>
          <a:xfrm>
            <a:off x="1162050" y="114300"/>
            <a:ext cx="1905000" cy="762000"/>
          </a:xfrm>
          <a:prstGeom prst="rect">
            <a:avLst/>
          </a:prstGeom>
          <a:noFill/>
        </p:spPr>
        <p:txBody>
          <a:bodyPr wrap="square" lIns="0" rIns="0" tIns="0" bIns="59207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4" name="ABSCHLUSS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ABSCHLUSS</a:t>
            </a:r>
          </a:p>
        </p:txBody>
      </p:sp>
      <p:sp>
        <p:nvSpPr>
          <p:cNvPr id="5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7" name="18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18</a:t>
            </a:r>
          </a:p>
        </p:txBody>
      </p:sp>
      <p:sp>
        <p:nvSpPr>
          <p:cNvPr id="8" name="Text"/>
          <p:cNvSpPr/>
          <p:nvPr/>
        </p:nvSpPr>
        <p:spPr>
          <a:xfrm>
            <a:off x="533400" y="1200150"/>
            <a:ext cx="11125200" cy="4762500"/>
          </a:xfrm>
          <a:prstGeom prst="roundRect">
            <a:avLst>
              <a:gd name="adj" fmla="val 6400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as ist unser&#10;nächster Schritt?"/>
          <p:cNvSpPr txBox="1"/>
          <p:nvPr/>
        </p:nvSpPr>
        <p:spPr>
          <a:xfrm>
            <a:off x="914400" y="1581150"/>
            <a:ext cx="10287000" cy="180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800" b="0">
                <a:solidFill>
                  <a:srgbClr val="1A1A1A"/>
                </a:solidFill>
                <a:latin typeface="Poppins SemiBold"/>
              </a:defRPr>
            </a:pPr>
            <a:r>
              <a:t>Was ist unser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800" b="0">
                <a:solidFill>
                  <a:srgbClr val="1A1A1A"/>
                </a:solidFill>
                <a:latin typeface="Poppins SemiBold"/>
              </a:defRPr>
            </a:pPr>
            <a:r>
              <a:t>nächster Schritt?</a:t>
            </a:r>
          </a:p>
        </p:txBody>
      </p:sp>
      <p:sp>
        <p:nvSpPr>
          <p:cNvPr id="10" name="[Konkrete Handlung]  ·  [Name]  ·  [Termin]"/>
          <p:cNvSpPr txBox="1"/>
          <p:nvPr/>
        </p:nvSpPr>
        <p:spPr>
          <a:xfrm>
            <a:off x="942975" y="3819524"/>
            <a:ext cx="100012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"/>
              </a:defRPr>
            </a:pPr>
            <a:r>
              <a:t>[Konkrete Handlung]  ·  [Name]  ·  [Termin]</a:t>
            </a:r>
          </a:p>
        </p:txBody>
      </p:sp>
      <p:sp>
        <p:nvSpPr>
          <p:cNvPr id="11" name="Text"/>
          <p:cNvSpPr/>
          <p:nvPr/>
        </p:nvSpPr>
        <p:spPr>
          <a:xfrm>
            <a:off x="942975" y="4876800"/>
            <a:ext cx="3276600" cy="6096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[Aktion benennen]"/>
          <p:cNvSpPr txBox="1"/>
          <p:nvPr/>
        </p:nvSpPr>
        <p:spPr>
          <a:xfrm>
            <a:off x="1085850" y="4876800"/>
            <a:ext cx="2990850" cy="609600"/>
          </a:xfrm>
          <a:prstGeom prst="rect">
            <a:avLst/>
          </a:prstGeom>
          <a:noFill/>
        </p:spPr>
        <p:txBody>
          <a:bodyPr wrap="square" lIns="0" rIns="0" tIns="5657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 SemiBold"/>
              </a:defRPr>
            </a:pPr>
            <a:r>
              <a:t>[Aktion benennen]</a:t>
            </a:r>
          </a:p>
        </p:txBody>
      </p:sp>
      <p:sp>
        <p:nvSpPr>
          <p:cNvPr id="13" name="dayova.com"/>
          <p:cNvSpPr txBox="1"/>
          <p:nvPr/>
        </p:nvSpPr>
        <p:spPr>
          <a:xfrm>
            <a:off x="8696325" y="5200650"/>
            <a:ext cx="2486025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"/>
              </a:defRPr>
            </a:pPr>
            <a:r>
              <a:t>dayova.com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MARKENBAUSTEIN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MARKENBAUSTEINE</a:t>
            </a:r>
          </a:p>
        </p:txBody>
      </p:sp>
      <p:sp>
        <p:nvSpPr>
          <p:cNvPr id="4" name="Dayova, konsistent eingesetz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Dayova, konsistent eingesetzt.</a:t>
            </a:r>
          </a:p>
        </p:txBody>
      </p:sp>
      <p:sp>
        <p:nvSpPr>
          <p:cNvPr id="5" name="Poppins · klare Hierarchie · warmes Weiß · Cyan als Akzent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Poppins · klare Hierarchie · warmes Weiß · Cyan als Akzent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9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19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yan"/>
          <p:cNvSpPr txBox="1"/>
          <p:nvPr/>
        </p:nvSpPr>
        <p:spPr>
          <a:xfrm>
            <a:off x="5334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Cyan</a:t>
            </a:r>
          </a:p>
        </p:txBody>
      </p:sp>
      <p:sp>
        <p:nvSpPr>
          <p:cNvPr id="11" name="#00BAFF"/>
          <p:cNvSpPr txBox="1"/>
          <p:nvPr/>
        </p:nvSpPr>
        <p:spPr>
          <a:xfrm>
            <a:off x="5334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#00BAFF</a:t>
            </a:r>
          </a:p>
        </p:txBody>
      </p:sp>
      <p:sp>
        <p:nvSpPr>
          <p:cNvPr id="12" name="Text"/>
          <p:cNvSpPr/>
          <p:nvPr/>
        </p:nvSpPr>
        <p:spPr>
          <a:xfrm>
            <a:off x="27813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27813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Text</a:t>
            </a:r>
          </a:p>
        </p:txBody>
      </p:sp>
      <p:sp>
        <p:nvSpPr>
          <p:cNvPr id="14" name="#1A1A1A"/>
          <p:cNvSpPr txBox="1"/>
          <p:nvPr/>
        </p:nvSpPr>
        <p:spPr>
          <a:xfrm>
            <a:off x="27813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#1A1A1A</a:t>
            </a:r>
          </a:p>
        </p:txBody>
      </p:sp>
      <p:sp>
        <p:nvSpPr>
          <p:cNvPr id="15" name="Text"/>
          <p:cNvSpPr/>
          <p:nvPr/>
        </p:nvSpPr>
        <p:spPr>
          <a:xfrm>
            <a:off x="50292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läche"/>
          <p:cNvSpPr txBox="1"/>
          <p:nvPr/>
        </p:nvSpPr>
        <p:spPr>
          <a:xfrm>
            <a:off x="50292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Fläche</a:t>
            </a:r>
          </a:p>
        </p:txBody>
      </p:sp>
      <p:sp>
        <p:nvSpPr>
          <p:cNvPr id="17" name="#FFFFFF"/>
          <p:cNvSpPr txBox="1"/>
          <p:nvPr/>
        </p:nvSpPr>
        <p:spPr>
          <a:xfrm>
            <a:off x="50292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#FFFFFF</a:t>
            </a:r>
          </a:p>
        </p:txBody>
      </p:sp>
      <p:sp>
        <p:nvSpPr>
          <p:cNvPr id="18" name="Text"/>
          <p:cNvSpPr/>
          <p:nvPr/>
        </p:nvSpPr>
        <p:spPr>
          <a:xfrm>
            <a:off x="72771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F6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intergrund"/>
          <p:cNvSpPr txBox="1"/>
          <p:nvPr/>
        </p:nvSpPr>
        <p:spPr>
          <a:xfrm>
            <a:off x="72771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Hintergrund</a:t>
            </a:r>
          </a:p>
        </p:txBody>
      </p:sp>
      <p:sp>
        <p:nvSpPr>
          <p:cNvPr id="20" name="#F6F6F4"/>
          <p:cNvSpPr txBox="1"/>
          <p:nvPr/>
        </p:nvSpPr>
        <p:spPr>
          <a:xfrm>
            <a:off x="72771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#F6F6F4</a:t>
            </a:r>
          </a:p>
        </p:txBody>
      </p:sp>
      <p:sp>
        <p:nvSpPr>
          <p:cNvPr id="21" name="Text"/>
          <p:cNvSpPr/>
          <p:nvPr/>
        </p:nvSpPr>
        <p:spPr>
          <a:xfrm>
            <a:off x="95250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heorie"/>
          <p:cNvSpPr txBox="1"/>
          <p:nvPr/>
        </p:nvSpPr>
        <p:spPr>
          <a:xfrm>
            <a:off x="95250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Theorie</a:t>
            </a:r>
          </a:p>
        </p:txBody>
      </p:sp>
      <p:sp>
        <p:nvSpPr>
          <p:cNvPr id="23" name="#5856D6"/>
          <p:cNvSpPr txBox="1"/>
          <p:nvPr/>
        </p:nvSpPr>
        <p:spPr>
          <a:xfrm>
            <a:off x="95250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#5856D6</a:t>
            </a:r>
          </a:p>
        </p:txBody>
      </p:sp>
      <p:sp>
        <p:nvSpPr>
          <p:cNvPr id="24" name="64  /  44  /  28  /  20"/>
          <p:cNvSpPr txBox="1"/>
          <p:nvPr/>
        </p:nvSpPr>
        <p:spPr>
          <a:xfrm>
            <a:off x="533400" y="5457825"/>
            <a:ext cx="5905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64  /  44  /  28  /  20</a:t>
            </a:r>
          </a:p>
        </p:txBody>
      </p:sp>
      <p:sp>
        <p:nvSpPr>
          <p:cNvPr id="25" name="Titel / Aussage / Abschnitt / Text"/>
          <p:cNvSpPr txBox="1"/>
          <p:nvPr/>
        </p:nvSpPr>
        <p:spPr>
          <a:xfrm>
            <a:off x="6915150" y="5534025"/>
            <a:ext cx="47434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Titel / Aussage / Abschnitt / Text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3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DUNKLE INHALTSFOLI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Poppins"/>
              </a:defRPr>
            </a:pPr>
            <a:r>
              <a:t>DUNKLE INHALTSFOLIE</a:t>
            </a:r>
          </a:p>
        </p:txBody>
      </p:sp>
      <p:sp>
        <p:nvSpPr>
          <p:cNvPr id="4" name="Fokus auf das Wesentliche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FFFFFF"/>
                </a:solidFill>
                <a:latin typeface="Poppins SemiBold"/>
              </a:defRPr>
            </a:pPr>
            <a:r>
              <a:t>Fokus auf das Wesentliche.</a:t>
            </a:r>
          </a:p>
        </p:txBody>
      </p:sp>
      <p:sp>
        <p:nvSpPr>
          <p:cNvPr id="5" name="[Eine klare Aussage für den dunklen Modus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Poppins"/>
              </a:defRPr>
            </a:pPr>
            <a:r>
              <a:t>[Eine klare Aussage für den dunklen Modus]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20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FFFFFF"/>
                </a:solidFill>
                <a:latin typeface="Poppins"/>
              </a:defRPr>
            </a:pPr>
            <a:r>
              <a:t>20</a:t>
            </a:r>
          </a:p>
        </p:txBody>
      </p:sp>
      <p:sp>
        <p:nvSpPr>
          <p:cNvPr id="9" name="Text"/>
          <p:cNvSpPr/>
          <p:nvPr/>
        </p:nvSpPr>
        <p:spPr>
          <a:xfrm>
            <a:off x="552450" y="3200400"/>
            <a:ext cx="161925" cy="161925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Gedanke 1]"/>
          <p:cNvSpPr txBox="1"/>
          <p:nvPr/>
        </p:nvSpPr>
        <p:spPr>
          <a:xfrm>
            <a:off x="1057275" y="3000375"/>
            <a:ext cx="5048250" cy="561975"/>
          </a:xfrm>
          <a:prstGeom prst="rect">
            <a:avLst/>
          </a:prstGeom>
          <a:noFill/>
        </p:spPr>
        <p:txBody>
          <a:bodyPr wrap="square" lIns="0" rIns="0" tIns="720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[Gedanke 1]</a:t>
            </a:r>
          </a:p>
        </p:txBody>
      </p:sp>
      <p:sp>
        <p:nvSpPr>
          <p:cNvPr id="11" name="[Kurze Erläuterung]"/>
          <p:cNvSpPr txBox="1"/>
          <p:nvPr/>
        </p:nvSpPr>
        <p:spPr>
          <a:xfrm>
            <a:off x="6286500" y="3000375"/>
            <a:ext cx="5334000" cy="561975"/>
          </a:xfrm>
          <a:prstGeom prst="rect">
            <a:avLst/>
          </a:prstGeom>
          <a:noFill/>
        </p:spPr>
        <p:txBody>
          <a:bodyPr wrap="square" lIns="0" rIns="0" tIns="0" bIns="7543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"/>
              </a:defRPr>
            </a:pPr>
            <a:r>
              <a:t>[Kurze Erläuterung]</a:t>
            </a:r>
          </a:p>
        </p:txBody>
      </p:sp>
      <p:sp>
        <p:nvSpPr>
          <p:cNvPr id="12" name="Text"/>
          <p:cNvSpPr/>
          <p:nvPr/>
        </p:nvSpPr>
        <p:spPr>
          <a:xfrm>
            <a:off x="552450" y="4143375"/>
            <a:ext cx="161925" cy="161925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[Gedanke 2]"/>
          <p:cNvSpPr txBox="1"/>
          <p:nvPr/>
        </p:nvSpPr>
        <p:spPr>
          <a:xfrm>
            <a:off x="1057275" y="3943350"/>
            <a:ext cx="5048250" cy="561975"/>
          </a:xfrm>
          <a:prstGeom prst="rect">
            <a:avLst/>
          </a:prstGeom>
          <a:noFill/>
        </p:spPr>
        <p:txBody>
          <a:bodyPr wrap="square" lIns="0" rIns="0" tIns="720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[Gedanke 2]</a:t>
            </a:r>
          </a:p>
        </p:txBody>
      </p:sp>
      <p:sp>
        <p:nvSpPr>
          <p:cNvPr id="14" name="[Kurze Erläuterung]"/>
          <p:cNvSpPr txBox="1"/>
          <p:nvPr/>
        </p:nvSpPr>
        <p:spPr>
          <a:xfrm>
            <a:off x="6286500" y="3943350"/>
            <a:ext cx="5334000" cy="561975"/>
          </a:xfrm>
          <a:prstGeom prst="rect">
            <a:avLst/>
          </a:prstGeom>
          <a:noFill/>
        </p:spPr>
        <p:txBody>
          <a:bodyPr wrap="square" lIns="0" rIns="0" tIns="0" bIns="7543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"/>
              </a:defRPr>
            </a:pPr>
            <a:r>
              <a:t>[Kurze Erläuterung]</a:t>
            </a:r>
          </a:p>
        </p:txBody>
      </p:sp>
      <p:sp>
        <p:nvSpPr>
          <p:cNvPr id="15" name="Text"/>
          <p:cNvSpPr/>
          <p:nvPr/>
        </p:nvSpPr>
        <p:spPr>
          <a:xfrm>
            <a:off x="552450" y="5086350"/>
            <a:ext cx="161925" cy="161925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[Gedanke 3]"/>
          <p:cNvSpPr txBox="1"/>
          <p:nvPr/>
        </p:nvSpPr>
        <p:spPr>
          <a:xfrm>
            <a:off x="1057275" y="4886325"/>
            <a:ext cx="5048250" cy="561975"/>
          </a:xfrm>
          <a:prstGeom prst="rect">
            <a:avLst/>
          </a:prstGeom>
          <a:noFill/>
        </p:spPr>
        <p:txBody>
          <a:bodyPr wrap="square" lIns="0" rIns="0" tIns="720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[Gedanke 3]</a:t>
            </a:r>
          </a:p>
        </p:txBody>
      </p:sp>
      <p:sp>
        <p:nvSpPr>
          <p:cNvPr id="17" name="[Kurze Erläuterung]"/>
          <p:cNvSpPr txBox="1"/>
          <p:nvPr/>
        </p:nvSpPr>
        <p:spPr>
          <a:xfrm>
            <a:off x="6286500" y="4886325"/>
            <a:ext cx="5334000" cy="561975"/>
          </a:xfrm>
          <a:prstGeom prst="rect">
            <a:avLst/>
          </a:prstGeom>
          <a:noFill/>
        </p:spPr>
        <p:txBody>
          <a:bodyPr wrap="square" lIns="0" rIns="0" tIns="0" bIns="7543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"/>
              </a:defRPr>
            </a:pPr>
            <a:r>
              <a:t>[Kurze Erläuterung]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0BAFF"/>
      </a:accent1>
      <a:accent2>
        <a:srgbClr val="5856D6"/>
      </a:accent2>
      <a:accent3>
        <a:srgbClr val="34C759"/>
      </a:accent3>
      <a:accent4>
        <a:srgbClr val="FF9500"/>
      </a:accent4>
      <a:accent5>
        <a:srgbClr val="00A0E6"/>
      </a:accent5>
      <a:accent6>
        <a:srgbClr val="5F6B7C"/>
      </a:accent6>
      <a:hlink>
        <a:srgbClr val="0000FF"/>
      </a:hlink>
      <a:folHlink>
        <a:srgbClr val="800080"/>
      </a:folHlink>
    </a:clrScheme>
    <a:fontScheme name="Office">
      <a:maj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Dayova — Präsentationsvorlage</dc:title>
  <dc:subject>20 reusable layouts; fictional examples explicitly labelled</dc:subject>
  <dc:creator>Dayova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
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Lernschritte</c:v>
                </c:pt>
              </c:strCache>
            </c:strRef>
          </c:tx>
          <c:spPr>
            <a:solidFill>
              <a:srgbClr val="00BA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Woche 1</c:v>
                </c:pt>
                <c:pt idx="1">
                  <c:v>Woche 2</c:v>
                </c:pt>
                <c:pt idx="2">
                  <c:v>Woche 3</c:v>
                </c:pt>
                <c:pt idx="3">
                  <c:v>Woche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 durch maximal 7 Wörter ersetzen. Untertitel: ein Satz. Absender, Anlass und Datum ergänzen. Die abstrakte Route ist ein Kommunikationsmotiv, keine nachgebaute App-Oberfläche.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Hilfsfolie vor dem Präsentieren entfernen. Schrift Poppins installieren. Alle Text- und Formelemente sind bearbeitbar. PowerPoint: Folie duplizieren; Canva: Seite duplizieren. Zahlen sind fiktiv.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maximal vier Punkte. Ersetze Inhalte, behalte kurze Titel und eindeutige Reihenfolge.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Kapiteltrenner: große Ziffer, kurze Kapitelüberschrift. Keine zusätzliche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 mit drei Belegen. Die Beispieltexte beschreiben das Produktprinzip, keine nachgewiesenen Wirkungsversprechen.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Perspektiven oder Problem / Ansatz. Keine unbelegten absoluten 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gleichwertige Bausteine. Kurze Überschriften, je maximal 25 Wörter Erklärung.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Prozessgrafik als bearbeitbare Formen. Kein Screenshot und keine Behauptung über eine konkrete App-Ansicht.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Referenz: Repository docs/evidence/day-292-onboarding/android-light-intro-daily-guidance-shared.png. Echter aufgezeichneter App-Zustand, nicht frisch live aufgenommen. Vor externer Nutzung auf Aktualität prüfen. Bild mit Quelle ersetzen; Seitenverhältnis beibehalten.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graue Fläche ist ein Bildplatzhalter. In PowerPoint/Canva eigenes freigegebenes Bild einfügen, proportional beschneiden. Alternativtext und Quelle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Fiktive Beispiele. KPI immer mit Definition, Zeitraum und Quelle angeben. Keine realen Dayova Leistungsdaten.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PowerPoint: Rechtsklick auf Diagramm &gt; Daten bearbeiten. Canva: Balken und Werte sind einzelne bearbeitbare Elemente, kein verknüpftes Diagramm. Achse beginnt bei null. Werte 6, 9, 12, 15; Einheit Lernschritte.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PowerPoint-Tabelle ist nativ bearbeitbar. Canva-Zellen sind bearbeitbare Texte und Formen. Maximal fünf Zeilen pro Folie; längere Tabellen aufteilen.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Phasen mit Verantwortlichen und Termin ersetzen. Keine automatische Projektverfolgung; Linear bleibt das kanonische Issuesystem.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Platzhalter, kein echtes Testimonial. Nur freigegebene Originalzitate verwenden, mit Name/Rolle/Datum und dokumentierter Freigabe. Platzhalter komplett ersetzen.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Personen sind Platzhalter. Freigegebene Fotos ersetzen die Initialen. Keine erfundenen Namen oder Rollen.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Kriterien parallel halten. Empfohlene Option mit Begründung hervorheben. Platzhalter ersetzen; keine Preisangaben ohne aktuelle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Abschluss: eine konkrete Handlung, Person und Termin. Kontakt / Link vor Veröffentlichung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Hilfsfolie vor dem Präsentieren entfernen. Primärfarbe #00BAFF mit #1A1A1A Text. Poppins Regular für Fließtext; SemiBold für Überschriften. Kleine farbige Texte vermeiden. Diese Kommunikationsskala 64/44/28/20 px ändert keine App-Tokens.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Dunkle Inhaltsvariante. Weiß auf #212325; Cyan nur als Akzent. Keine Übertragung auf die App-Themesteuerung.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01</a:t>
            </a:r>
          </a:p>
        </p:txBody>
      </p:sp>
      <p:sp>
        <p:nvSpPr>
          <p:cNvPr id="7" name="Text"/>
          <p:cNvSpPr/>
          <p:nvPr/>
        </p:nvSpPr>
        <p:spPr>
          <a:xfrm>
            <a:off x="7772400" y="1066800"/>
            <a:ext cx="3886200" cy="4991100"/>
          </a:xfrm>
          <a:prstGeom prst="roundRect">
            <a:avLst>
              <a:gd name="adj" fmla="val 7843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infach&#10;loslernen."/>
          <p:cNvSpPr txBox="1"/>
          <p:nvPr/>
        </p:nvSpPr>
        <p:spPr>
          <a:xfrm>
            <a:off x="533400" y="1724025"/>
            <a:ext cx="7000875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Einfach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loslernen.</a:t>
            </a:r>
          </a:p>
        </p:txBody>
      </p:sp>
      <p:sp>
        <p:nvSpPr>
          <p:cNvPr id="9" name="Der Plan steht schon."/>
          <p:cNvSpPr txBox="1"/>
          <p:nvPr/>
        </p:nvSpPr>
        <p:spPr>
          <a:xfrm>
            <a:off x="571500" y="3924300"/>
            <a:ext cx="6667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1A1A1A"/>
                </a:solidFill>
                <a:latin typeface="Poppins SemiBold"/>
              </a:defRPr>
            </a:pPr>
            <a:r>
              <a:t>Der Plan steht schon.</a:t>
            </a:r>
          </a:p>
        </p:txBody>
      </p:sp>
      <p:sp>
        <p:nvSpPr>
          <p:cNvPr id="10" name="[Anlass / Präsentation]&#10;[Name] · [Datum]"/>
          <p:cNvSpPr txBox="1"/>
          <p:nvPr/>
        </p:nvSpPr>
        <p:spPr>
          <a:xfrm>
            <a:off x="571500" y="5114925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[Anlass / Präsentation]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[Name] · [Datum]</a:t>
            </a:r>
          </a:p>
        </p:txBody>
      </p:sp>
      <p:sp>
        <p:nvSpPr>
          <p:cNvPr id="11" name="Text"/>
          <p:cNvSpPr/>
          <p:nvPr/>
        </p:nvSpPr>
        <p:spPr>
          <a:xfrm>
            <a:off x="8782050" y="44196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/>
          <p:nvPr/>
        </p:nvSpPr>
        <p:spPr>
          <a:xfrm>
            <a:off x="8801100" y="4400550"/>
            <a:ext cx="1724025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10506075" y="3962399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/>
          <p:nvPr/>
        </p:nvSpPr>
        <p:spPr>
          <a:xfrm>
            <a:off x="10506075" y="3424237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/>
          <p:nvPr/>
        </p:nvSpPr>
        <p:spPr>
          <a:xfrm>
            <a:off x="8963025" y="34051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8943975" y="2886075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/>
          <p:nvPr/>
        </p:nvSpPr>
        <p:spPr>
          <a:xfrm>
            <a:off x="8943975" y="2471737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/>
          <p:nvPr/>
        </p:nvSpPr>
        <p:spPr>
          <a:xfrm>
            <a:off x="8963025" y="24526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10506075" y="2057400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/>
          <p:nvPr/>
        </p:nvSpPr>
        <p:spPr>
          <a:xfrm>
            <a:off x="8467725" y="4543425"/>
            <a:ext cx="666750" cy="666750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1"/>
          <p:cNvSpPr txBox="1"/>
          <p:nvPr/>
        </p:nvSpPr>
        <p:spPr>
          <a:xfrm>
            <a:off x="8467725" y="4695825"/>
            <a:ext cx="666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FFFF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22" name="Text"/>
          <p:cNvSpPr/>
          <p:nvPr/>
        </p:nvSpPr>
        <p:spPr>
          <a:xfrm>
            <a:off x="10191750" y="3629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2"/>
          <p:cNvSpPr txBox="1"/>
          <p:nvPr/>
        </p:nvSpPr>
        <p:spPr>
          <a:xfrm>
            <a:off x="10191750" y="3781425"/>
            <a:ext cx="666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24" name="Text"/>
          <p:cNvSpPr/>
          <p:nvPr/>
        </p:nvSpPr>
        <p:spPr>
          <a:xfrm>
            <a:off x="8629650" y="2552700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3"/>
          <p:cNvSpPr txBox="1"/>
          <p:nvPr/>
        </p:nvSpPr>
        <p:spPr>
          <a:xfrm>
            <a:off x="8629650" y="2705100"/>
            <a:ext cx="666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26" name="Text"/>
          <p:cNvSpPr/>
          <p:nvPr/>
        </p:nvSpPr>
        <p:spPr>
          <a:xfrm>
            <a:off x="10191750" y="1724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4"/>
          <p:cNvSpPr txBox="1"/>
          <p:nvPr/>
        </p:nvSpPr>
        <p:spPr>
          <a:xfrm>
            <a:off x="10191750" y="1876425"/>
            <a:ext cx="666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8" name="SCHRITT FÜR SCHRITT"/>
          <p:cNvSpPr txBox="1"/>
          <p:nvPr/>
        </p:nvSpPr>
        <p:spPr>
          <a:xfrm>
            <a:off x="8124824" y="5457825"/>
            <a:ext cx="31432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A1A1A"/>
                </a:solidFill>
                <a:latin typeface="Poppins SemiBold"/>
              </a:defRPr>
            </a:pPr>
            <a:r>
              <a:t>SCHRITT FÜR SCHRITT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NLEIT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ANLEITUNG</a:t>
            </a:r>
          </a:p>
        </p:txBody>
      </p:sp>
      <p:sp>
        <p:nvSpPr>
          <p:cNvPr id="4" name="Eine Vorlage. Viele Möglichkeit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Vorlage. Viele Möglichkeiten.</a:t>
            </a:r>
          </a:p>
        </p:txBody>
      </p:sp>
      <p:sp>
        <p:nvSpPr>
          <p:cNvPr id="5" name="Kopieren, Inhalte ersetzen, loslegen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Kopieren, Inhalte ersetzen, loslegen.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Layout wählen"/>
          <p:cNvSpPr txBox="1"/>
          <p:nvPr/>
        </p:nvSpPr>
        <p:spPr>
          <a:xfrm>
            <a:off x="80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Layout wählen</a:t>
            </a:r>
          </a:p>
        </p:txBody>
      </p:sp>
      <p:sp>
        <p:nvSpPr>
          <p:cNvPr id="12" name="Wähle die Folie passend zur Aussage. Eine Kernbotschaft pro "/>
          <p:cNvSpPr txBox="1"/>
          <p:nvPr/>
        </p:nvSpPr>
        <p:spPr>
          <a:xfrm>
            <a:off x="80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Wähle die Folie passend zur Aussage. Eine Kernbotschaft pro Seite.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Inhalte einsetzen"/>
          <p:cNvSpPr txBox="1"/>
          <p:nvPr/>
        </p:nvSpPr>
        <p:spPr>
          <a:xfrm>
            <a:off x="461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Inhalte einsetzen</a:t>
            </a:r>
          </a:p>
        </p:txBody>
      </p:sp>
      <p:sp>
        <p:nvSpPr>
          <p:cNvPr id="16" name="Ersetze eckige Klammern. Prüfe Quellen, Zahlen und Bildrecht"/>
          <p:cNvSpPr txBox="1"/>
          <p:nvPr/>
        </p:nvSpPr>
        <p:spPr>
          <a:xfrm>
            <a:off x="461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Ersetze eckige Klammern. Prüfe Quellen, Zahlen und Bildrechte.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Kurz prüfen"/>
          <p:cNvSpPr txBox="1"/>
          <p:nvPr/>
        </p:nvSpPr>
        <p:spPr>
          <a:xfrm>
            <a:off x="842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Kurz prüfen</a:t>
            </a:r>
          </a:p>
        </p:txBody>
      </p:sp>
      <p:sp>
        <p:nvSpPr>
          <p:cNvPr id="20" name="Lies in Präsentationsgröße. Prüfe Umbrüche und exportiere ei"/>
          <p:cNvSpPr txBox="1"/>
          <p:nvPr/>
        </p:nvSpPr>
        <p:spPr>
          <a:xfrm>
            <a:off x="842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Lies in Präsentationsgröße. Prüfe Umbrüche und exportiere ein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GENDA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AGENDA</a:t>
            </a:r>
          </a:p>
        </p:txBody>
      </p:sp>
      <p:sp>
        <p:nvSpPr>
          <p:cNvPr id="4" name="Was heute zähl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Was heute zählt.</a:t>
            </a:r>
          </a:p>
        </p:txBody>
      </p:sp>
      <p:sp>
        <p:nvSpPr>
          <p:cNvPr id="5" name="[Ziel des Gesprächs in einem Satz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[Ziel des Gesprächs in einem Satz]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03</a:t>
            </a:r>
          </a:p>
        </p:txBody>
      </p:sp>
      <p:sp>
        <p:nvSpPr>
          <p:cNvPr id="9" name="01"/>
          <p:cNvSpPr txBox="1"/>
          <p:nvPr/>
        </p:nvSpPr>
        <p:spPr>
          <a:xfrm>
            <a:off x="571500" y="2914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Ausgangspunkt"/>
          <p:cNvSpPr txBox="1"/>
          <p:nvPr/>
        </p:nvSpPr>
        <p:spPr>
          <a:xfrm>
            <a:off x="1619250" y="2914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Ausgangspunkt</a:t>
            </a:r>
          </a:p>
        </p:txBody>
      </p:sp>
      <p:sp>
        <p:nvSpPr>
          <p:cNvPr id="11" name="Was wir verstehen müssen"/>
          <p:cNvSpPr txBox="1"/>
          <p:nvPr/>
        </p:nvSpPr>
        <p:spPr>
          <a:xfrm>
            <a:off x="6191250" y="2962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verstehen müssen</a:t>
            </a:r>
          </a:p>
        </p:txBody>
      </p:sp>
      <p:sp>
        <p:nvSpPr>
          <p:cNvPr id="12" name="02"/>
          <p:cNvSpPr txBox="1"/>
          <p:nvPr/>
        </p:nvSpPr>
        <p:spPr>
          <a:xfrm>
            <a:off x="571500" y="3676649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Unser Ansatz"/>
          <p:cNvSpPr txBox="1"/>
          <p:nvPr/>
        </p:nvSpPr>
        <p:spPr>
          <a:xfrm>
            <a:off x="1619250" y="3676649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Wie wir den nächsten Schritt erleichtern"/>
          <p:cNvSpPr txBox="1"/>
          <p:nvPr/>
        </p:nvSpPr>
        <p:spPr>
          <a:xfrm>
            <a:off x="6191250" y="3724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Wie wir den nächsten Schritt erleichtern</a:t>
            </a:r>
          </a:p>
        </p:txBody>
      </p:sp>
      <p:sp>
        <p:nvSpPr>
          <p:cNvPr id="15" name="03"/>
          <p:cNvSpPr txBox="1"/>
          <p:nvPr/>
        </p:nvSpPr>
        <p:spPr>
          <a:xfrm>
            <a:off x="571500" y="4438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Einblick"/>
          <p:cNvSpPr txBox="1"/>
          <p:nvPr/>
        </p:nvSpPr>
        <p:spPr>
          <a:xfrm>
            <a:off x="1619250" y="4438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Einblick</a:t>
            </a:r>
          </a:p>
        </p:txBody>
      </p:sp>
      <p:sp>
        <p:nvSpPr>
          <p:cNvPr id="17" name="Was wir zeigen und lernen"/>
          <p:cNvSpPr txBox="1"/>
          <p:nvPr/>
        </p:nvSpPr>
        <p:spPr>
          <a:xfrm>
            <a:off x="6191250" y="4486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zeigen und lernen</a:t>
            </a:r>
          </a:p>
        </p:txBody>
      </p:sp>
      <p:sp>
        <p:nvSpPr>
          <p:cNvPr id="18" name="04"/>
          <p:cNvSpPr txBox="1"/>
          <p:nvPr/>
        </p:nvSpPr>
        <p:spPr>
          <a:xfrm>
            <a:off x="571500" y="5200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19" name="Nächster Schritt"/>
          <p:cNvSpPr txBox="1"/>
          <p:nvPr/>
        </p:nvSpPr>
        <p:spPr>
          <a:xfrm>
            <a:off x="1619250" y="5200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Nächster Schritt</a:t>
            </a:r>
          </a:p>
        </p:txBody>
      </p:sp>
      <p:sp>
        <p:nvSpPr>
          <p:cNvPr id="20" name="Was wir gemeinsam entscheiden"/>
          <p:cNvSpPr txBox="1"/>
          <p:nvPr/>
        </p:nvSpPr>
        <p:spPr>
          <a:xfrm>
            <a:off x="6191250" y="5248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gemeinsam entscheiden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AP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KAPITEL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04</a:t>
            </a:r>
          </a:p>
        </p:txBody>
      </p:sp>
      <p:sp>
        <p:nvSpPr>
          <p:cNvPr id="7" name="01"/>
          <p:cNvSpPr txBox="1"/>
          <p:nvPr/>
        </p:nvSpPr>
        <p:spPr>
          <a:xfrm>
            <a:off x="533400" y="1447800"/>
            <a:ext cx="3048000" cy="1952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0" b="0">
                <a:solidFill>
                  <a:srgbClr val="00BA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8" name="Der nächste&#10;sinnvolle Schritt."/>
          <p:cNvSpPr txBox="1"/>
          <p:nvPr/>
        </p:nvSpPr>
        <p:spPr>
          <a:xfrm>
            <a:off x="4038600" y="2038349"/>
            <a:ext cx="7620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Der nächste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sinnvolle Schritt.</a:t>
            </a:r>
          </a:p>
        </p:txBody>
      </p:sp>
      <p:sp>
        <p:nvSpPr>
          <p:cNvPr id="9" name="[Kapitel / Leitfrage]"/>
          <p:cNvSpPr txBox="1"/>
          <p:nvPr/>
        </p:nvSpPr>
        <p:spPr>
          <a:xfrm>
            <a:off x="4095750" y="4600575"/>
            <a:ext cx="6953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FFFFFF"/>
                </a:solidFill>
                <a:latin typeface="Poppins"/>
              </a:defRPr>
            </a:pPr>
            <a:r>
              <a:t>[Kapitel / Leitfrage]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RNAUSSAG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KERNAUSSAGE</a:t>
            </a:r>
          </a:p>
        </p:txBody>
      </p:sp>
      <p:sp>
        <p:nvSpPr>
          <p:cNvPr id="4" name="Weniger planen.&#10;Leichter anfan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Weniger planen.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Leichter anfangen.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05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3438525"/>
            <a:ext cx="11125200" cy="243840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1"/>
          <p:cNvSpPr txBox="1"/>
          <p:nvPr/>
        </p:nvSpPr>
        <p:spPr>
          <a:xfrm>
            <a:off x="8001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Orientierung"/>
          <p:cNvSpPr txBox="1"/>
          <p:nvPr/>
        </p:nvSpPr>
        <p:spPr>
          <a:xfrm>
            <a:off x="8001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Orientierung</a:t>
            </a:r>
          </a:p>
        </p:txBody>
      </p:sp>
      <p:sp>
        <p:nvSpPr>
          <p:cNvPr id="11" name="Was ist heute dran?"/>
          <p:cNvSpPr txBox="1"/>
          <p:nvPr/>
        </p:nvSpPr>
        <p:spPr>
          <a:xfrm>
            <a:off x="8001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ist heute dran?</a:t>
            </a:r>
          </a:p>
        </p:txBody>
      </p:sp>
      <p:sp>
        <p:nvSpPr>
          <p:cNvPr id="12" name="02"/>
          <p:cNvSpPr txBox="1"/>
          <p:nvPr/>
        </p:nvSpPr>
        <p:spPr>
          <a:xfrm>
            <a:off x="451485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Ein klarer Start"/>
          <p:cNvSpPr txBox="1"/>
          <p:nvPr/>
        </p:nvSpPr>
        <p:spPr>
          <a:xfrm>
            <a:off x="451485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Ein klarer Start</a:t>
            </a:r>
          </a:p>
        </p:txBody>
      </p:sp>
      <p:sp>
        <p:nvSpPr>
          <p:cNvPr id="14" name="Wie beginne ich?"/>
          <p:cNvSpPr txBox="1"/>
          <p:nvPr/>
        </p:nvSpPr>
        <p:spPr>
          <a:xfrm>
            <a:off x="451485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Wie beginne ich?</a:t>
            </a:r>
          </a:p>
        </p:txBody>
      </p:sp>
      <p:sp>
        <p:nvSpPr>
          <p:cNvPr id="15" name="03"/>
          <p:cNvSpPr txBox="1"/>
          <p:nvPr/>
        </p:nvSpPr>
        <p:spPr>
          <a:xfrm>
            <a:off x="82296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Passend weiter"/>
          <p:cNvSpPr txBox="1"/>
          <p:nvPr/>
        </p:nvSpPr>
        <p:spPr>
          <a:xfrm>
            <a:off x="82296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Passend weiter</a:t>
            </a:r>
          </a:p>
        </p:txBody>
      </p:sp>
      <p:sp>
        <p:nvSpPr>
          <p:cNvPr id="17" name="Was brauche ich danach?"/>
          <p:cNvSpPr txBox="1"/>
          <p:nvPr/>
        </p:nvSpPr>
        <p:spPr>
          <a:xfrm>
            <a:off x="82296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brauche ich danach?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WEI SPALT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ZWEI SPALTEN</a:t>
            </a:r>
          </a:p>
        </p:txBody>
      </p:sp>
      <p:sp>
        <p:nvSpPr>
          <p:cNvPr id="4" name="Von der Frage zu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Von der Frage zum nächsten Schritt.</a:t>
            </a:r>
          </a:p>
        </p:txBody>
      </p:sp>
      <p:sp>
        <p:nvSpPr>
          <p:cNvPr id="5" name="[Kontext für den Vergleich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[Kontext für den Vergleich]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06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e Ausgangslage"/>
          <p:cNvSpPr txBox="1"/>
          <p:nvPr/>
        </p:nvSpPr>
        <p:spPr>
          <a:xfrm>
            <a:off x="8382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Die Ausgangslage</a:t>
            </a:r>
          </a:p>
        </p:txBody>
      </p:sp>
      <p:sp>
        <p:nvSpPr>
          <p:cNvPr id="11" name="[Beschreibe die Situation.]&#10;&#10;[Was macht den Start schwer?]&#10;&#10;"/>
          <p:cNvSpPr txBox="1"/>
          <p:nvPr/>
        </p:nvSpPr>
        <p:spPr>
          <a:xfrm>
            <a:off x="8382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Situation.]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macht den Start schwer?]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soll einfacher werden?]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nser Ansatz"/>
          <p:cNvSpPr txBox="1"/>
          <p:nvPr/>
        </p:nvSpPr>
        <p:spPr>
          <a:xfrm>
            <a:off x="65151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[Beschreibe die Antwort.]&#10;&#10;[Wie wird der nächste Schritt kla"/>
          <p:cNvSpPr txBox="1"/>
          <p:nvPr/>
        </p:nvSpPr>
        <p:spPr>
          <a:xfrm>
            <a:off x="65151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Antwort.]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[Wie wird der nächste Schritt klar?]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[Woran erkennen wir Fortschritt?]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REI 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DREI BAUSTEINE</a:t>
            </a:r>
          </a:p>
        </p:txBody>
      </p:sp>
      <p:sp>
        <p:nvSpPr>
          <p:cNvPr id="4" name="Ein Lernweg, der zusammenpass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Lernweg, der zusammenpasst.</a:t>
            </a:r>
          </a:p>
        </p:txBody>
      </p:sp>
      <p:sp>
        <p:nvSpPr>
          <p:cNvPr id="5" name="[Drei Gedanken, die die Kernaussage tragen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[Drei Gedanken, die die Kernaussage tragen]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Prüfung"/>
          <p:cNvSpPr txBox="1"/>
          <p:nvPr/>
        </p:nvSpPr>
        <p:spPr>
          <a:xfrm>
            <a:off x="80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Prüfung</a:t>
            </a:r>
          </a:p>
        </p:txBody>
      </p:sp>
      <p:sp>
        <p:nvSpPr>
          <p:cNvPr id="12" name="Termin, Themen und verfügbare Zeit geben den Rahmen."/>
          <p:cNvSpPr txBox="1"/>
          <p:nvPr/>
        </p:nvSpPr>
        <p:spPr>
          <a:xfrm>
            <a:off x="80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Termin, Themen und verfügbare Zeit geben den Rahmen.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Lernschritt"/>
          <p:cNvSpPr txBox="1"/>
          <p:nvPr/>
        </p:nvSpPr>
        <p:spPr>
          <a:xfrm>
            <a:off x="461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Lernschritt</a:t>
            </a:r>
          </a:p>
        </p:txBody>
      </p:sp>
      <p:sp>
        <p:nvSpPr>
          <p:cNvPr id="16" name="Ein konkreter Fokus erleichtert den Anfang."/>
          <p:cNvSpPr txBox="1"/>
          <p:nvPr/>
        </p:nvSpPr>
        <p:spPr>
          <a:xfrm>
            <a:off x="461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 konkreter Fokus erleichtert den Anfang.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EE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Rückmeldung"/>
          <p:cNvSpPr txBox="1"/>
          <p:nvPr/>
        </p:nvSpPr>
        <p:spPr>
          <a:xfrm>
            <a:off x="842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Rückmeldung</a:t>
            </a:r>
          </a:p>
        </p:txBody>
      </p:sp>
      <p:sp>
        <p:nvSpPr>
          <p:cNvPr id="20" name="Antworten zeigen, was als Nächstes sinnvoll ist."/>
          <p:cNvSpPr txBox="1"/>
          <p:nvPr/>
        </p:nvSpPr>
        <p:spPr>
          <a:xfrm>
            <a:off x="842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Antworten zeigen, was als Nächstes sinnvoll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ZE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PROZESS</a:t>
            </a:r>
          </a:p>
        </p:txBody>
      </p:sp>
      <p:sp>
        <p:nvSpPr>
          <p:cNvPr id="4" name="Vom Stoff zum Lern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Vom Stoff zum Lernschritt.</a:t>
            </a:r>
          </a:p>
        </p:txBody>
      </p:sp>
      <p:sp>
        <p:nvSpPr>
          <p:cNvPr id="5" name="Ein Ablauf, den man auf einen Blick versteht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Ein Ablauf, den man auf einen Blick versteht.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08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1"/>
          <p:cNvSpPr txBox="1"/>
          <p:nvPr/>
        </p:nvSpPr>
        <p:spPr>
          <a:xfrm>
            <a:off x="533400" y="3314700"/>
            <a:ext cx="60960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1343025" y="3486150"/>
            <a:ext cx="1876425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intragen"/>
          <p:cNvSpPr txBox="1"/>
          <p:nvPr/>
        </p:nvSpPr>
        <p:spPr>
          <a:xfrm>
            <a:off x="533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Eintragen</a:t>
            </a:r>
          </a:p>
        </p:txBody>
      </p:sp>
      <p:sp>
        <p:nvSpPr>
          <p:cNvPr id="13" name="Prüfung, Themen&#10;und freie Zeit"/>
          <p:cNvSpPr txBox="1"/>
          <p:nvPr/>
        </p:nvSpPr>
        <p:spPr>
          <a:xfrm>
            <a:off x="533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Prüfung, Themen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und freie Zeit</a:t>
            </a:r>
          </a:p>
        </p:txBody>
      </p:sp>
      <p:sp>
        <p:nvSpPr>
          <p:cNvPr id="14" name="Text"/>
          <p:cNvSpPr/>
          <p:nvPr/>
        </p:nvSpPr>
        <p:spPr>
          <a:xfrm>
            <a:off x="3390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2"/>
          <p:cNvSpPr txBox="1"/>
          <p:nvPr/>
        </p:nvSpPr>
        <p:spPr>
          <a:xfrm>
            <a:off x="3390900" y="3314700"/>
            <a:ext cx="60960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2</a:t>
            </a:r>
          </a:p>
        </p:txBody>
      </p:sp>
      <p:sp>
        <p:nvSpPr>
          <p:cNvPr id="16" name="Text"/>
          <p:cNvSpPr/>
          <p:nvPr/>
        </p:nvSpPr>
        <p:spPr>
          <a:xfrm>
            <a:off x="4200525" y="3486150"/>
            <a:ext cx="1876425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lan ansehen"/>
          <p:cNvSpPr txBox="1"/>
          <p:nvPr/>
        </p:nvSpPr>
        <p:spPr>
          <a:xfrm>
            <a:off x="3390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Plan ansehen</a:t>
            </a:r>
          </a:p>
        </p:txBody>
      </p:sp>
      <p:sp>
        <p:nvSpPr>
          <p:cNvPr id="18" name="Die nächsten&#10;Lerntage im Blick"/>
          <p:cNvSpPr txBox="1"/>
          <p:nvPr/>
        </p:nvSpPr>
        <p:spPr>
          <a:xfrm>
            <a:off x="3390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nächsten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Lerntage im Blick</a:t>
            </a:r>
          </a:p>
        </p:txBody>
      </p:sp>
      <p:sp>
        <p:nvSpPr>
          <p:cNvPr id="19" name="Text"/>
          <p:cNvSpPr/>
          <p:nvPr/>
        </p:nvSpPr>
        <p:spPr>
          <a:xfrm>
            <a:off x="6248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3"/>
          <p:cNvSpPr txBox="1"/>
          <p:nvPr/>
        </p:nvSpPr>
        <p:spPr>
          <a:xfrm>
            <a:off x="6248400" y="3314700"/>
            <a:ext cx="60960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3</a:t>
            </a:r>
          </a:p>
        </p:txBody>
      </p:sp>
      <p:sp>
        <p:nvSpPr>
          <p:cNvPr id="21" name="Text"/>
          <p:cNvSpPr/>
          <p:nvPr/>
        </p:nvSpPr>
        <p:spPr>
          <a:xfrm>
            <a:off x="7058025" y="3486150"/>
            <a:ext cx="1876425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rten"/>
          <p:cNvSpPr txBox="1"/>
          <p:nvPr/>
        </p:nvSpPr>
        <p:spPr>
          <a:xfrm>
            <a:off x="6248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23" name="Ein klarer Fokus&#10;für heute"/>
          <p:cNvSpPr txBox="1"/>
          <p:nvPr/>
        </p:nvSpPr>
        <p:spPr>
          <a:xfrm>
            <a:off x="6248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für heute</a:t>
            </a:r>
          </a:p>
        </p:txBody>
      </p:sp>
      <p:sp>
        <p:nvSpPr>
          <p:cNvPr id="24" name="Text"/>
          <p:cNvSpPr/>
          <p:nvPr/>
        </p:nvSpPr>
        <p:spPr>
          <a:xfrm>
            <a:off x="9105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4"/>
          <p:cNvSpPr txBox="1"/>
          <p:nvPr/>
        </p:nvSpPr>
        <p:spPr>
          <a:xfrm>
            <a:off x="9105900" y="3314700"/>
            <a:ext cx="60960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4</a:t>
            </a:r>
          </a:p>
        </p:txBody>
      </p:sp>
      <p:sp>
        <p:nvSpPr>
          <p:cNvPr id="26" name="Weiterlernen"/>
          <p:cNvSpPr txBox="1"/>
          <p:nvPr/>
        </p:nvSpPr>
        <p:spPr>
          <a:xfrm>
            <a:off x="9105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Weiterlernen</a:t>
            </a:r>
          </a:p>
        </p:txBody>
      </p:sp>
      <p:sp>
        <p:nvSpPr>
          <p:cNvPr id="27" name="Antworten geben&#10;die Richtung vor"/>
          <p:cNvSpPr txBox="1"/>
          <p:nvPr/>
        </p:nvSpPr>
        <p:spPr>
          <a:xfrm>
            <a:off x="9105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Antworten geben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Richtung vor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DUKTEINBLICK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PRODUKTEINBLICK</a:t>
            </a:r>
          </a:p>
        </p:txBody>
      </p:sp>
      <p:sp>
        <p:nvSpPr>
          <p:cNvPr id="4" name="Ein klarer Fokus&#10;für heut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für heute.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09</a:t>
            </a:r>
          </a:p>
        </p:txBody>
      </p:sp>
      <p:sp>
        <p:nvSpPr>
          <p:cNvPr id="8" name="[Erkläre den gezeigten Moment&#10;in höchstens zwei Sätzen.]"/>
          <p:cNvSpPr txBox="1"/>
          <p:nvPr/>
        </p:nvSpPr>
        <p:spPr>
          <a:xfrm>
            <a:off x="533400" y="3286125"/>
            <a:ext cx="6572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[Erkläre den gezeigten Moment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in höchstens zwei Sätzen.]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4895850"/>
            <a:ext cx="5695950" cy="952500"/>
          </a:xfrm>
          <a:prstGeom prst="roundRect">
            <a:avLst>
              <a:gd name="adj" fmla="val 22000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LDQUELLE IM FOLIENKOMMENTAR&#10;Vor Veröffentlichung aktualisi"/>
          <p:cNvSpPr txBox="1"/>
          <p:nvPr/>
        </p:nvSpPr>
        <p:spPr>
          <a:xfrm>
            <a:off x="781050" y="5114925"/>
            <a:ext cx="52197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BILDQUELLE IM FOLIENKOMMENTAR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Vor Veröffentlichung aktualisieren.</a:t>
            </a:r>
          </a:p>
        </p:txBody>
      </p:sp>
      <p:pic>
        <p:nvPicPr>
          <p:cNvPr id="11" name="Picture 10" descr="android-light-intro-daily-guidance-sha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038225"/>
            <a:ext cx="2266950" cy="50577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BILD + TEX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BILD + TEXT</a:t>
            </a:r>
          </a:p>
        </p:txBody>
      </p:sp>
      <p:sp>
        <p:nvSpPr>
          <p:cNvPr id="4" name="Ein Bild. Eine klare Aussag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Bild. Eine klare Aussage.</a:t>
            </a:r>
          </a:p>
        </p:txBody>
      </p:sp>
      <p:sp>
        <p:nvSpPr>
          <p:cNvPr id="5" name="[Was zeigt das Bild und warum ist es relevant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zeigt das Bild und warum ist es relevant?]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10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62275"/>
            <a:ext cx="7086600" cy="3028950"/>
          </a:xfrm>
          <a:prstGeom prst="roundRect">
            <a:avLst>
              <a:gd name="adj" fmla="val 880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Bild einsetzen]"/>
          <p:cNvSpPr txBox="1"/>
          <p:nvPr/>
        </p:nvSpPr>
        <p:spPr>
          <a:xfrm>
            <a:off x="1238250" y="4010025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F6B7C"/>
                </a:solidFill>
                <a:latin typeface="Poppins SemiBold"/>
              </a:defRPr>
            </a:pPr>
            <a:r>
              <a:t>[Bild einsetzen]</a:t>
            </a:r>
          </a:p>
        </p:txBody>
      </p:sp>
      <p:sp>
        <p:nvSpPr>
          <p:cNvPr id="11" name="FORMAT  2,3 : 1"/>
          <p:cNvSpPr txBox="1"/>
          <p:nvPr/>
        </p:nvSpPr>
        <p:spPr>
          <a:xfrm>
            <a:off x="2000250" y="4848225"/>
            <a:ext cx="41909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F6B7C"/>
                </a:solidFill>
                <a:latin typeface="Poppins"/>
              </a:defRPr>
            </a:pPr>
            <a:r>
              <a:t>FORMAT  2,3 : 1</a:t>
            </a:r>
          </a:p>
        </p:txBody>
      </p:sp>
      <p:sp>
        <p:nvSpPr>
          <p:cNvPr id="12" name="[Kernaussage]"/>
          <p:cNvSpPr txBox="1"/>
          <p:nvPr/>
        </p:nvSpPr>
        <p:spPr>
          <a:xfrm>
            <a:off x="8039099" y="3105150"/>
            <a:ext cx="3619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[Kernaussage]</a:t>
            </a:r>
          </a:p>
        </p:txBody>
      </p:sp>
      <p:sp>
        <p:nvSpPr>
          <p:cNvPr id="13" name="[Kurze Einordnung]&#10;&#10;[Wichtigstes Detail]&#10;&#10;[Quelle / Stand]"/>
          <p:cNvSpPr txBox="1"/>
          <p:nvPr/>
        </p:nvSpPr>
        <p:spPr>
          <a:xfrm>
            <a:off x="8039099" y="4048124"/>
            <a:ext cx="361950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[Kurze 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[Wichtigstes Detail]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[Quelle / Stand]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NNZAHL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KENNZAHLEN</a:t>
            </a:r>
          </a:p>
        </p:txBody>
      </p:sp>
      <p:sp>
        <p:nvSpPr>
          <p:cNvPr id="4" name="Fortschritt sichtbar mach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Fortschritt sichtbar machen.</a:t>
            </a:r>
          </a:p>
        </p:txBody>
      </p:sp>
      <p:sp>
        <p:nvSpPr>
          <p:cNvPr id="5" name="Fiktives Beispiel · Werte vor Verwendung ersetz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Werte vor Verwendung ersetzen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11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24"/>
          <p:cNvSpPr txBox="1"/>
          <p:nvPr/>
        </p:nvSpPr>
        <p:spPr>
          <a:xfrm>
            <a:off x="80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24</a:t>
            </a:r>
          </a:p>
        </p:txBody>
      </p:sp>
      <p:sp>
        <p:nvSpPr>
          <p:cNvPr id="11" name="Lernschritte"/>
          <p:cNvSpPr txBox="1"/>
          <p:nvPr/>
        </p:nvSpPr>
        <p:spPr>
          <a:xfrm>
            <a:off x="80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Lernschritte</a:t>
            </a:r>
          </a:p>
        </p:txBody>
      </p:sp>
      <p:sp>
        <p:nvSpPr>
          <p:cNvPr id="12" name="im betrachteten Zeitraum"/>
          <p:cNvSpPr txBox="1"/>
          <p:nvPr/>
        </p:nvSpPr>
        <p:spPr>
          <a:xfrm>
            <a:off x="80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im betrachteten Zeitraum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75 %"/>
          <p:cNvSpPr txBox="1"/>
          <p:nvPr/>
        </p:nvSpPr>
        <p:spPr>
          <a:xfrm>
            <a:off x="461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75 %</a:t>
            </a:r>
          </a:p>
        </p:txBody>
      </p:sp>
      <p:sp>
        <p:nvSpPr>
          <p:cNvPr id="15" name="Abgeschlossen"/>
          <p:cNvSpPr txBox="1"/>
          <p:nvPr/>
        </p:nvSpPr>
        <p:spPr>
          <a:xfrm>
            <a:off x="461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Abgeschlossen</a:t>
            </a:r>
          </a:p>
        </p:txBody>
      </p:sp>
      <p:sp>
        <p:nvSpPr>
          <p:cNvPr id="16" name="18 von 24 Lernschritten"/>
          <p:cNvSpPr txBox="1"/>
          <p:nvPr/>
        </p:nvSpPr>
        <p:spPr>
          <a:xfrm>
            <a:off x="461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18 von 24 Lernschritten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30 Min."/>
          <p:cNvSpPr txBox="1"/>
          <p:nvPr/>
        </p:nvSpPr>
        <p:spPr>
          <a:xfrm>
            <a:off x="842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30 Min.</a:t>
            </a:r>
          </a:p>
        </p:txBody>
      </p:sp>
      <p:sp>
        <p:nvSpPr>
          <p:cNvPr id="19" name="Pro Lernschritt"/>
          <p:cNvSpPr txBox="1"/>
          <p:nvPr/>
        </p:nvSpPr>
        <p:spPr>
          <a:xfrm>
            <a:off x="842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Pro Lernschritt</a:t>
            </a:r>
          </a:p>
        </p:txBody>
      </p:sp>
      <p:sp>
        <p:nvSpPr>
          <p:cNvPr id="20" name="geplante Dauer im Beispiel"/>
          <p:cNvSpPr txBox="1"/>
          <p:nvPr/>
        </p:nvSpPr>
        <p:spPr>
          <a:xfrm>
            <a:off x="842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geplante Dauer im Beispiel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IAGRAMM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DIAGRAMM</a:t>
            </a:r>
          </a:p>
        </p:txBody>
      </p:sp>
      <p:sp>
        <p:nvSpPr>
          <p:cNvPr id="4" name="Eine Entwicklung, die lesbar bleib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Entwicklung, die lesbar bleibt.</a:t>
            </a:r>
          </a:p>
        </p:txBody>
      </p:sp>
      <p:sp>
        <p:nvSpPr>
          <p:cNvPr id="5" name="Abgeschlossene Lernschritte je Woche · Fiktives Beispiel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Abgeschlossene Lernschritte je Woche · Fiktives Beispiel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7429500" cy="3133725"/>
          </a:xfrm>
          <a:prstGeom prst="roundRect">
            <a:avLst>
              <a:gd name="adj" fmla="val 729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19150" y="3181350"/>
          <a:ext cx="6705600" cy="25050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[Was fällt auf?]"/>
          <p:cNvSpPr txBox="1"/>
          <p:nvPr/>
        </p:nvSpPr>
        <p:spPr>
          <a:xfrm>
            <a:off x="8401050" y="3219450"/>
            <a:ext cx="3238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[Was fällt auf?]</a:t>
            </a:r>
          </a:p>
        </p:txBody>
      </p:sp>
      <p:sp>
        <p:nvSpPr>
          <p:cNvPr id="12" name="[Beobachtung]&#10;&#10;[Einordnung]&#10;&#10;[Nächster Schritt]"/>
          <p:cNvSpPr txBox="1"/>
          <p:nvPr/>
        </p:nvSpPr>
        <p:spPr>
          <a:xfrm>
            <a:off x="8401050" y="4133849"/>
            <a:ext cx="3238500" cy="1638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[Beobachtung]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[Nächster Schritt]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ABELL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TABELLE</a:t>
            </a:r>
          </a:p>
        </p:txBody>
      </p:sp>
      <p:sp>
        <p:nvSpPr>
          <p:cNvPr id="4" name="Details, die die Entscheidung tra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Details, die die Entscheidung tragen.</a:t>
            </a:r>
          </a:p>
        </p:txBody>
      </p:sp>
      <p:sp>
        <p:nvSpPr>
          <p:cNvPr id="5" name="Fiktives Beispiel · Status immer auch als Text zeig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Status immer auch als Text zeigen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400" y="3028950"/>
          <a:ext cx="11125200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/>
                <a:gridCol w="2781300"/>
                <a:gridCol w="2781300"/>
                <a:gridCol w="2781300"/>
              </a:tblGrid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Bereich</a:t>
                      </a:r>
                    </a:p>
                  </a:txBody>
                  <a:tcPr marL="164592" marT="173736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Beobachtung</a:t>
                      </a:r>
                    </a:p>
                  </a:txBody>
                  <a:tcPr marL="164592" marT="173736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Status</a:t>
                      </a:r>
                    </a:p>
                  </a:txBody>
                  <a:tcPr marL="164592" marT="173736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Nächster Schritt</a:t>
                      </a:r>
                    </a:p>
                  </a:txBody>
                  <a:tcPr marL="164592" marT="173736">
                    <a:solidFill>
                      <a:srgbClr val="1A1A1A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Planung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Offen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Lernschritte</a:t>
                      </a:r>
                    </a:p>
                  </a:txBody>
                  <a:tcPr marL="164592" marT="173736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173736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In Arbeit</a:t>
                      </a:r>
                    </a:p>
                  </a:txBody>
                  <a:tcPr marL="164592" marT="173736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173736">
                    <a:solidFill>
                      <a:srgbClr val="F1F7FB"/>
                    </a:solidFill>
                  </a:tcPr>
                </a:tc>
              </a:tr>
              <a:tr h="67151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Rückmeldung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Erledigt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17373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EITPLA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ZEITPLAN</a:t>
            </a:r>
          </a:p>
        </p:txBody>
      </p:sp>
      <p:sp>
        <p:nvSpPr>
          <p:cNvPr id="4" name="Ein Plan mit klaren Etapp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Plan mit klaren Etappen.</a:t>
            </a:r>
          </a:p>
        </p:txBody>
      </p:sp>
      <p:sp>
        <p:nvSpPr>
          <p:cNvPr id="5" name="[Zeitraum und Ziel] · Beispielablauf, keine Zusage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[Zeitraum und Ziel] · Beispielablauf, keine Zusage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14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533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Vorbereiten"/>
          <p:cNvSpPr txBox="1"/>
          <p:nvPr/>
        </p:nvSpPr>
        <p:spPr>
          <a:xfrm>
            <a:off x="533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Vorbereiten</a:t>
            </a:r>
          </a:p>
        </p:txBody>
      </p:sp>
      <p:sp>
        <p:nvSpPr>
          <p:cNvPr id="12" name="Ziel &amp; Rahmen&#10;[Name · Datum]"/>
          <p:cNvSpPr txBox="1"/>
          <p:nvPr/>
        </p:nvSpPr>
        <p:spPr>
          <a:xfrm>
            <a:off x="533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Ziel &amp; Rahmen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3" name="Text"/>
          <p:cNvSpPr/>
          <p:nvPr/>
        </p:nvSpPr>
        <p:spPr>
          <a:xfrm>
            <a:off x="3390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3390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Starten"/>
          <p:cNvSpPr txBox="1"/>
          <p:nvPr/>
        </p:nvSpPr>
        <p:spPr>
          <a:xfrm>
            <a:off x="3390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16" name="Einführung&#10;[Name · Datum]"/>
          <p:cNvSpPr txBox="1"/>
          <p:nvPr/>
        </p:nvSpPr>
        <p:spPr>
          <a:xfrm>
            <a:off x="3390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Einführung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7" name="Text"/>
          <p:cNvSpPr/>
          <p:nvPr/>
        </p:nvSpPr>
        <p:spPr>
          <a:xfrm>
            <a:off x="6248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6248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Beobachten"/>
          <p:cNvSpPr txBox="1"/>
          <p:nvPr/>
        </p:nvSpPr>
        <p:spPr>
          <a:xfrm>
            <a:off x="6248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Beobachten</a:t>
            </a:r>
          </a:p>
        </p:txBody>
      </p:sp>
      <p:sp>
        <p:nvSpPr>
          <p:cNvPr id="20" name="Rückmeldung&#10;[Name · Datum]"/>
          <p:cNvSpPr txBox="1"/>
          <p:nvPr/>
        </p:nvSpPr>
        <p:spPr>
          <a:xfrm>
            <a:off x="6248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Rückmeldung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21" name="Text"/>
          <p:cNvSpPr/>
          <p:nvPr/>
        </p:nvSpPr>
        <p:spPr>
          <a:xfrm>
            <a:off x="9105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4"/>
          <p:cNvSpPr txBox="1"/>
          <p:nvPr/>
        </p:nvSpPr>
        <p:spPr>
          <a:xfrm>
            <a:off x="9105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3" name="Entscheiden"/>
          <p:cNvSpPr txBox="1"/>
          <p:nvPr/>
        </p:nvSpPr>
        <p:spPr>
          <a:xfrm>
            <a:off x="9105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Entscheiden</a:t>
            </a:r>
          </a:p>
        </p:txBody>
      </p:sp>
      <p:sp>
        <p:nvSpPr>
          <p:cNvPr id="24" name="Auswertung&#10;[Name · Datum]"/>
          <p:cNvSpPr txBox="1"/>
          <p:nvPr/>
        </p:nvSpPr>
        <p:spPr>
          <a:xfrm>
            <a:off x="9105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Auswertung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ITA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ZITAT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15</a:t>
            </a:r>
          </a:p>
        </p:txBody>
      </p:sp>
      <p:sp>
        <p:nvSpPr>
          <p:cNvPr id="7" name="“"/>
          <p:cNvSpPr txBox="1"/>
          <p:nvPr/>
        </p:nvSpPr>
        <p:spPr>
          <a:xfrm>
            <a:off x="476250" y="923925"/>
            <a:ext cx="17145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0" b="0">
                <a:solidFill>
                  <a:srgbClr val="00BAFF"/>
                </a:solidFill>
                <a:latin typeface="Poppins SemiBold"/>
              </a:defRPr>
            </a:pPr>
            <a:r>
              <a:t>“</a:t>
            </a:r>
          </a:p>
        </p:txBody>
      </p:sp>
      <p:sp>
        <p:nvSpPr>
          <p:cNvPr id="8" name="[Ein kurzer Gedanke,&#10;der in Erinnerung&#10;bleiben soll.]"/>
          <p:cNvSpPr txBox="1"/>
          <p:nvPr/>
        </p:nvSpPr>
        <p:spPr>
          <a:xfrm>
            <a:off x="2000250" y="1924049"/>
            <a:ext cx="8858250" cy="236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[Ein kurzer Gedanke,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der in Erinnerung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bleiben soll.]</a:t>
            </a:r>
          </a:p>
        </p:txBody>
      </p:sp>
      <p:sp>
        <p:nvSpPr>
          <p:cNvPr id="9" name="[Name]  ·  [Rolle / Kontext]&#10;[Quelle · Datum · Freigabe]"/>
          <p:cNvSpPr txBox="1"/>
          <p:nvPr/>
        </p:nvSpPr>
        <p:spPr>
          <a:xfrm>
            <a:off x="2076450" y="5057775"/>
            <a:ext cx="8096249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[Name]  ·  [Rolle / Kontext]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[Quelle · Datum · Freigabe]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ENSCH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MENSCHEN</a:t>
            </a:r>
          </a:p>
        </p:txBody>
      </p:sp>
      <p:sp>
        <p:nvSpPr>
          <p:cNvPr id="4" name="Die Menschen hinter de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Menschen hinter dem nächsten Schritt.</a:t>
            </a:r>
          </a:p>
        </p:txBody>
      </p:sp>
      <p:sp>
        <p:nvSpPr>
          <p:cNvPr id="5" name="[Team / Ansprechpartner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[Team / Ansprechpartner]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16</a:t>
            </a:r>
          </a:p>
        </p:txBody>
      </p:sp>
      <p:sp>
        <p:nvSpPr>
          <p:cNvPr id="9" name="Text"/>
          <p:cNvSpPr/>
          <p:nvPr/>
        </p:nvSpPr>
        <p:spPr>
          <a:xfrm>
            <a:off x="1438275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AB]"/>
          <p:cNvSpPr txBox="1"/>
          <p:nvPr/>
        </p:nvSpPr>
        <p:spPr>
          <a:xfrm>
            <a:off x="1438275" y="3505200"/>
            <a:ext cx="16764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1" name="[Name]"/>
          <p:cNvSpPr txBox="1"/>
          <p:nvPr/>
        </p:nvSpPr>
        <p:spPr>
          <a:xfrm>
            <a:off x="77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2" name="[Rolle / Schwerpunkt]"/>
          <p:cNvSpPr txBox="1"/>
          <p:nvPr/>
        </p:nvSpPr>
        <p:spPr>
          <a:xfrm>
            <a:off x="64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3" name="Text"/>
          <p:cNvSpPr/>
          <p:nvPr/>
        </p:nvSpPr>
        <p:spPr>
          <a:xfrm>
            <a:off x="5248275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[AB]"/>
          <p:cNvSpPr txBox="1"/>
          <p:nvPr/>
        </p:nvSpPr>
        <p:spPr>
          <a:xfrm>
            <a:off x="5248275" y="3505200"/>
            <a:ext cx="16764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5" name="[Name]"/>
          <p:cNvSpPr txBox="1"/>
          <p:nvPr/>
        </p:nvSpPr>
        <p:spPr>
          <a:xfrm>
            <a:off x="458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6" name="[Rolle / Schwerpunkt]"/>
          <p:cNvSpPr txBox="1"/>
          <p:nvPr/>
        </p:nvSpPr>
        <p:spPr>
          <a:xfrm>
            <a:off x="445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7" name="Text"/>
          <p:cNvSpPr/>
          <p:nvPr/>
        </p:nvSpPr>
        <p:spPr>
          <a:xfrm>
            <a:off x="9058275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AB]"/>
          <p:cNvSpPr txBox="1"/>
          <p:nvPr/>
        </p:nvSpPr>
        <p:spPr>
          <a:xfrm>
            <a:off x="9058275" y="3505200"/>
            <a:ext cx="16764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9" name="[Name]"/>
          <p:cNvSpPr txBox="1"/>
          <p:nvPr/>
        </p:nvSpPr>
        <p:spPr>
          <a:xfrm>
            <a:off x="839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20" name="[Rolle / Schwerpunkt]"/>
          <p:cNvSpPr txBox="1"/>
          <p:nvPr/>
        </p:nvSpPr>
        <p:spPr>
          <a:xfrm>
            <a:off x="8267699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ENTSCHEID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ENTSCHEIDUNG</a:t>
            </a:r>
          </a:p>
        </p:txBody>
      </p:sp>
      <p:sp>
        <p:nvSpPr>
          <p:cNvPr id="4" name="Die Optionen im Überblick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Optionen im Überblick.</a:t>
            </a:r>
          </a:p>
        </p:txBody>
      </p:sp>
      <p:sp>
        <p:nvSpPr>
          <p:cNvPr id="5" name="[Welche Entscheidung steht an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[Welche Entscheidung steht an?]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ion A"/>
          <p:cNvSpPr txBox="1"/>
          <p:nvPr/>
        </p:nvSpPr>
        <p:spPr>
          <a:xfrm>
            <a:off x="8191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A</a:t>
            </a:r>
          </a:p>
        </p:txBody>
      </p:sp>
      <p:sp>
        <p:nvSpPr>
          <p:cNvPr id="11" name="[Nutzen]&#10;&#10;[Aufwand / Voraussetzung]&#10;&#10;[Wichtigste Einschränku"/>
          <p:cNvSpPr txBox="1"/>
          <p:nvPr/>
        </p:nvSpPr>
        <p:spPr>
          <a:xfrm>
            <a:off x="8191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ion B"/>
          <p:cNvSpPr txBox="1"/>
          <p:nvPr/>
        </p:nvSpPr>
        <p:spPr>
          <a:xfrm>
            <a:off x="64960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B</a:t>
            </a:r>
          </a:p>
        </p:txBody>
      </p:sp>
      <p:sp>
        <p:nvSpPr>
          <p:cNvPr id="14" name="[Nutzen]&#10;&#10;[Aufwand / Voraussetzung]&#10;&#10;[Wichtigste Einschränku"/>
          <p:cNvSpPr txBox="1"/>
          <p:nvPr/>
        </p:nvSpPr>
        <p:spPr>
          <a:xfrm>
            <a:off x="64960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BSCHLU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ABSCHLUSS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18</a:t>
            </a:r>
          </a:p>
        </p:txBody>
      </p:sp>
      <p:sp>
        <p:nvSpPr>
          <p:cNvPr id="7" name="Text"/>
          <p:cNvSpPr/>
          <p:nvPr/>
        </p:nvSpPr>
        <p:spPr>
          <a:xfrm>
            <a:off x="533400" y="1200150"/>
            <a:ext cx="11125200" cy="4762500"/>
          </a:xfrm>
          <a:prstGeom prst="roundRect">
            <a:avLst>
              <a:gd name="adj" fmla="val 64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as ist unser&#10;nächster Schritt?"/>
          <p:cNvSpPr txBox="1"/>
          <p:nvPr/>
        </p:nvSpPr>
        <p:spPr>
          <a:xfrm>
            <a:off x="914400" y="1581150"/>
            <a:ext cx="10287000" cy="180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Was ist unser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nächster Schritt?</a:t>
            </a:r>
          </a:p>
        </p:txBody>
      </p:sp>
      <p:sp>
        <p:nvSpPr>
          <p:cNvPr id="9" name="[Konkrete Handlung]  ·  [Name]  ·  [Termin]"/>
          <p:cNvSpPr txBox="1"/>
          <p:nvPr/>
        </p:nvSpPr>
        <p:spPr>
          <a:xfrm>
            <a:off x="942975" y="3819524"/>
            <a:ext cx="100012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"/>
              </a:defRPr>
            </a:pPr>
            <a:r>
              <a:t>[Konkrete Handlung]  ·  [Name]  ·  [Termin]</a:t>
            </a:r>
          </a:p>
        </p:txBody>
      </p:sp>
      <p:sp>
        <p:nvSpPr>
          <p:cNvPr id="10" name="Text"/>
          <p:cNvSpPr/>
          <p:nvPr/>
        </p:nvSpPr>
        <p:spPr>
          <a:xfrm>
            <a:off x="942975" y="4876800"/>
            <a:ext cx="3276600" cy="6096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[Aktion benennen]"/>
          <p:cNvSpPr txBox="1"/>
          <p:nvPr/>
        </p:nvSpPr>
        <p:spPr>
          <a:xfrm>
            <a:off x="1085850" y="5038725"/>
            <a:ext cx="29908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 SemiBold"/>
              </a:defRPr>
            </a:pPr>
            <a:r>
              <a:t>[Aktion benennen]</a:t>
            </a:r>
          </a:p>
        </p:txBody>
      </p:sp>
      <p:sp>
        <p:nvSpPr>
          <p:cNvPr id="12" name="dayova.com"/>
          <p:cNvSpPr txBox="1"/>
          <p:nvPr/>
        </p:nvSpPr>
        <p:spPr>
          <a:xfrm>
            <a:off x="8696325" y="5200650"/>
            <a:ext cx="2486025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"/>
              </a:defRPr>
            </a:pPr>
            <a:r>
              <a:t>dayova.com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ARKEN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MARKENBAUSTEINE</a:t>
            </a:r>
          </a:p>
        </p:txBody>
      </p:sp>
      <p:sp>
        <p:nvSpPr>
          <p:cNvPr id="4" name="Dayova, konsistent eingesetz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Dayova, konsistent eingesetzt.</a:t>
            </a:r>
          </a:p>
        </p:txBody>
      </p:sp>
      <p:sp>
        <p:nvSpPr>
          <p:cNvPr id="5" name="Poppins · klare Hierarchie · warmes Weiß · Cyan als Akzent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Poppins · klare Hierarchie · warmes Weiß · Cyan als Akzent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19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yan"/>
          <p:cNvSpPr txBox="1"/>
          <p:nvPr/>
        </p:nvSpPr>
        <p:spPr>
          <a:xfrm>
            <a:off x="5334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Cyan</a:t>
            </a:r>
          </a:p>
        </p:txBody>
      </p:sp>
      <p:sp>
        <p:nvSpPr>
          <p:cNvPr id="11" name="#00BAFF"/>
          <p:cNvSpPr txBox="1"/>
          <p:nvPr/>
        </p:nvSpPr>
        <p:spPr>
          <a:xfrm>
            <a:off x="5334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#00BAFF</a:t>
            </a:r>
          </a:p>
        </p:txBody>
      </p:sp>
      <p:sp>
        <p:nvSpPr>
          <p:cNvPr id="12" name="Text"/>
          <p:cNvSpPr/>
          <p:nvPr/>
        </p:nvSpPr>
        <p:spPr>
          <a:xfrm>
            <a:off x="27813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27813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Text</a:t>
            </a:r>
          </a:p>
        </p:txBody>
      </p:sp>
      <p:sp>
        <p:nvSpPr>
          <p:cNvPr id="14" name="#1A1A1A"/>
          <p:cNvSpPr txBox="1"/>
          <p:nvPr/>
        </p:nvSpPr>
        <p:spPr>
          <a:xfrm>
            <a:off x="27813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#1A1A1A</a:t>
            </a:r>
          </a:p>
        </p:txBody>
      </p:sp>
      <p:sp>
        <p:nvSpPr>
          <p:cNvPr id="15" name="Text"/>
          <p:cNvSpPr/>
          <p:nvPr/>
        </p:nvSpPr>
        <p:spPr>
          <a:xfrm>
            <a:off x="50292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läche"/>
          <p:cNvSpPr txBox="1"/>
          <p:nvPr/>
        </p:nvSpPr>
        <p:spPr>
          <a:xfrm>
            <a:off x="50292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Fläche</a:t>
            </a:r>
          </a:p>
        </p:txBody>
      </p:sp>
      <p:sp>
        <p:nvSpPr>
          <p:cNvPr id="17" name="#FFFFFF"/>
          <p:cNvSpPr txBox="1"/>
          <p:nvPr/>
        </p:nvSpPr>
        <p:spPr>
          <a:xfrm>
            <a:off x="50292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#FFFFFF</a:t>
            </a:r>
          </a:p>
        </p:txBody>
      </p:sp>
      <p:sp>
        <p:nvSpPr>
          <p:cNvPr id="18" name="Text"/>
          <p:cNvSpPr/>
          <p:nvPr/>
        </p:nvSpPr>
        <p:spPr>
          <a:xfrm>
            <a:off x="72771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6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intergrund"/>
          <p:cNvSpPr txBox="1"/>
          <p:nvPr/>
        </p:nvSpPr>
        <p:spPr>
          <a:xfrm>
            <a:off x="72771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Hintergrund</a:t>
            </a:r>
          </a:p>
        </p:txBody>
      </p:sp>
      <p:sp>
        <p:nvSpPr>
          <p:cNvPr id="20" name="#F6F6F4"/>
          <p:cNvSpPr txBox="1"/>
          <p:nvPr/>
        </p:nvSpPr>
        <p:spPr>
          <a:xfrm>
            <a:off x="72771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#F6F6F4</a:t>
            </a:r>
          </a:p>
        </p:txBody>
      </p:sp>
      <p:sp>
        <p:nvSpPr>
          <p:cNvPr id="21" name="Text"/>
          <p:cNvSpPr/>
          <p:nvPr/>
        </p:nvSpPr>
        <p:spPr>
          <a:xfrm>
            <a:off x="95250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heorie"/>
          <p:cNvSpPr txBox="1"/>
          <p:nvPr/>
        </p:nvSpPr>
        <p:spPr>
          <a:xfrm>
            <a:off x="95250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Theorie</a:t>
            </a:r>
          </a:p>
        </p:txBody>
      </p:sp>
      <p:sp>
        <p:nvSpPr>
          <p:cNvPr id="23" name="#5856D6"/>
          <p:cNvSpPr txBox="1"/>
          <p:nvPr/>
        </p:nvSpPr>
        <p:spPr>
          <a:xfrm>
            <a:off x="95250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#5856D6</a:t>
            </a:r>
          </a:p>
        </p:txBody>
      </p:sp>
      <p:sp>
        <p:nvSpPr>
          <p:cNvPr id="24" name="64  /  44  /  28  /  20"/>
          <p:cNvSpPr txBox="1"/>
          <p:nvPr/>
        </p:nvSpPr>
        <p:spPr>
          <a:xfrm>
            <a:off x="533400" y="5457825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64  /  44  /  28  /  20</a:t>
            </a:r>
          </a:p>
        </p:txBody>
      </p:sp>
      <p:sp>
        <p:nvSpPr>
          <p:cNvPr id="25" name="Titel → Aussage → Abschnitt → Text"/>
          <p:cNvSpPr txBox="1"/>
          <p:nvPr/>
        </p:nvSpPr>
        <p:spPr>
          <a:xfrm>
            <a:off x="6915150" y="5534025"/>
            <a:ext cx="47434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Titel → Aussage → Abschnitt → 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UNKLE INHALTSFOLI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DUNKLE INHALTSFOLIE</a:t>
            </a:r>
          </a:p>
        </p:txBody>
      </p:sp>
      <p:sp>
        <p:nvSpPr>
          <p:cNvPr id="4" name="Fokus auf das Wesentlich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FFFFFF"/>
                </a:solidFill>
                <a:latin typeface="Poppins SemiBold"/>
              </a:defRPr>
            </a:pPr>
            <a:r>
              <a:t>Fokus auf das Wesentliche.</a:t>
            </a:r>
          </a:p>
        </p:txBody>
      </p:sp>
      <p:sp>
        <p:nvSpPr>
          <p:cNvPr id="5" name="[Eine klare Aussage für den dunklen Modus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Poppins"/>
              </a:defRPr>
            </a:pPr>
            <a:r>
              <a:t>[Eine klare Aussage für den dunklen Modus]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2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20</a:t>
            </a:r>
          </a:p>
        </p:txBody>
      </p:sp>
      <p:sp>
        <p:nvSpPr>
          <p:cNvPr id="9" name="Text"/>
          <p:cNvSpPr/>
          <p:nvPr/>
        </p:nvSpPr>
        <p:spPr>
          <a:xfrm>
            <a:off x="552450" y="320040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Gedanke 1]"/>
          <p:cNvSpPr txBox="1"/>
          <p:nvPr/>
        </p:nvSpPr>
        <p:spPr>
          <a:xfrm>
            <a:off x="1057275" y="3162300"/>
            <a:ext cx="504825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1]</a:t>
            </a:r>
          </a:p>
        </p:txBody>
      </p:sp>
      <p:sp>
        <p:nvSpPr>
          <p:cNvPr id="11" name="[Kurze Erläuterung]"/>
          <p:cNvSpPr txBox="1"/>
          <p:nvPr/>
        </p:nvSpPr>
        <p:spPr>
          <a:xfrm>
            <a:off x="6286500" y="3209925"/>
            <a:ext cx="533400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2" name="Text"/>
          <p:cNvSpPr/>
          <p:nvPr/>
        </p:nvSpPr>
        <p:spPr>
          <a:xfrm>
            <a:off x="552450" y="4143375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[Gedanke 2]"/>
          <p:cNvSpPr txBox="1"/>
          <p:nvPr/>
        </p:nvSpPr>
        <p:spPr>
          <a:xfrm>
            <a:off x="1057275" y="4105274"/>
            <a:ext cx="504825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2]</a:t>
            </a:r>
          </a:p>
        </p:txBody>
      </p:sp>
      <p:sp>
        <p:nvSpPr>
          <p:cNvPr id="14" name="[Kurze Erläuterung]"/>
          <p:cNvSpPr txBox="1"/>
          <p:nvPr/>
        </p:nvSpPr>
        <p:spPr>
          <a:xfrm>
            <a:off x="6286500" y="4152900"/>
            <a:ext cx="533400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5" name="Text"/>
          <p:cNvSpPr/>
          <p:nvPr/>
        </p:nvSpPr>
        <p:spPr>
          <a:xfrm>
            <a:off x="552450" y="508635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[Gedanke 3]"/>
          <p:cNvSpPr txBox="1"/>
          <p:nvPr/>
        </p:nvSpPr>
        <p:spPr>
          <a:xfrm>
            <a:off x="1057275" y="5048250"/>
            <a:ext cx="504825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3]</a:t>
            </a:r>
          </a:p>
        </p:txBody>
      </p:sp>
      <p:sp>
        <p:nvSpPr>
          <p:cNvPr id="17" name="[Kurze Erläuterung]"/>
          <p:cNvSpPr txBox="1"/>
          <p:nvPr/>
        </p:nvSpPr>
        <p:spPr>
          <a:xfrm>
            <a:off x="6286500" y="5095875"/>
            <a:ext cx="5334000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BAFF"/>
      </a:accent1>
      <a:accent2>
        <a:srgbClr val="5856D6"/>
      </a:accent2>
      <a:accent3>
        <a:srgbClr val="34C759"/>
      </a:accent3>
      <a:accent4>
        <a:srgbClr val="FF9500"/>
      </a:accent4>
      <a:accent5>
        <a:srgbClr val="00A0E6"/>
      </a:accent5>
      <a:accent6>
        <a:srgbClr val="5F6B7C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Dayova — Präsentationsvorlage</dc:title>
  <dc:subject>20 reusable layouts; fictional examples explicitly labelled</dc:subject>
  <dc:creator>Dayova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